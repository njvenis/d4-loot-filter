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F3A5F"/>
          </a:solidFill>
          <a:ln/>
        </p:spPr>
      </p:sp>
      <p:sp>
        <p:nvSpPr>
          <p:cNvPr id="3" name="Shape 1"/>
          <p:cNvSpPr/>
          <p:nvPr/>
        </p:nvSpPr>
        <p:spPr>
          <a:xfrm>
            <a:off x="0" y="5138928"/>
            <a:ext cx="12191695" cy="41148"/>
          </a:xfrm>
          <a:prstGeom prst="rect">
            <a:avLst/>
          </a:prstGeom>
          <a:solidFill>
            <a:srgbClr val="2A9D8C"/>
          </a:solidFill>
          <a:ln/>
        </p:spPr>
      </p:sp>
      <p:sp>
        <p:nvSpPr>
          <p:cNvPr id="4" name="Text 2"/>
          <p:cNvSpPr/>
          <p:nvPr/>
        </p:nvSpPr>
        <p:spPr>
          <a:xfrm>
            <a:off x="822960" y="1920240"/>
            <a:ext cx="5486400" cy="640080"/>
          </a:xfrm>
          <a:prstGeom prst="rect">
            <a:avLst/>
          </a:prstGeom>
          <a:noFill/>
          <a:ln/>
        </p:spPr>
        <p:txBody>
          <a:bodyPr wrap="square" lIns="0" tIns="0" rIns="0" bIns="0" rtlCol="0" anchor="ctr"/>
          <a:lstStyle/>
          <a:p>
            <a:pPr indent="0" marL="0">
              <a:buNone/>
            </a:pPr>
            <a:r>
              <a:rPr lang="en-US" sz="2000" b="1" spc="600" kern="0" dirty="0">
                <a:solidFill>
                  <a:srgbClr val="2A9D8C"/>
                </a:solidFill>
                <a:latin typeface="Calibri" pitchFamily="34" charset="0"/>
                <a:ea typeface="Calibri" pitchFamily="34" charset="-122"/>
                <a:cs typeface="Calibri" pitchFamily="34" charset="-120"/>
              </a:rPr>
              <a:t>PAVE</a:t>
            </a:r>
            <a:endParaRPr lang="en-US" sz="2000" dirty="0"/>
          </a:p>
        </p:txBody>
      </p:sp>
      <p:sp>
        <p:nvSpPr>
          <p:cNvPr id="5" name="Text 3"/>
          <p:cNvSpPr/>
          <p:nvPr/>
        </p:nvSpPr>
        <p:spPr>
          <a:xfrm>
            <a:off x="786384" y="237744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How the model evolved</a:t>
            </a:r>
            <a:endParaRPr lang="en-US" sz="4000" dirty="0"/>
          </a:p>
        </p:txBody>
      </p:sp>
      <p:sp>
        <p:nvSpPr>
          <p:cNvPr id="6" name="Text 4"/>
          <p:cNvSpPr/>
          <p:nvPr/>
        </p:nvSpPr>
        <p:spPr>
          <a:xfrm>
            <a:off x="822960" y="3383280"/>
            <a:ext cx="9875520" cy="548640"/>
          </a:xfrm>
          <a:prstGeom prst="rect">
            <a:avLst/>
          </a:prstGeom>
          <a:noFill/>
          <a:ln/>
        </p:spPr>
        <p:txBody>
          <a:bodyPr wrap="square" lIns="0" tIns="0" rIns="0" bIns="0" rtlCol="0" anchor="ctr"/>
          <a:lstStyle/>
          <a:p>
            <a:pPr indent="0" marL="0">
              <a:buNone/>
            </a:pPr>
            <a:r>
              <a:rPr lang="en-US" sz="1500" dirty="0">
                <a:solidFill>
                  <a:srgbClr val="D9E2EC"/>
                </a:solidFill>
                <a:latin typeface="Calibri" pitchFamily="34" charset="0"/>
                <a:ea typeface="Calibri" pitchFamily="34" charset="-122"/>
                <a:cs typeface="Calibri" pitchFamily="34" charset="-120"/>
              </a:rPr>
              <a:t>From the first full draft to the current model: what changed, what never moved, and why.</a:t>
            </a:r>
            <a:endParaRPr lang="en-US" sz="1500" dirty="0"/>
          </a:p>
        </p:txBody>
      </p:sp>
      <p:sp>
        <p:nvSpPr>
          <p:cNvPr id="7" name="Text 5"/>
          <p:cNvSpPr/>
          <p:nvPr/>
        </p:nvSpPr>
        <p:spPr>
          <a:xfrm>
            <a:off x="822960" y="5349240"/>
            <a:ext cx="9144000" cy="365760"/>
          </a:xfrm>
          <a:prstGeom prst="rect">
            <a:avLst/>
          </a:prstGeom>
          <a:noFill/>
          <a:ln/>
        </p:spPr>
        <p:txBody>
          <a:bodyPr wrap="square" lIns="0" tIns="0" rIns="0" bIns="0" rtlCol="0" anchor="ctr"/>
          <a:lstStyle/>
          <a:p>
            <a:pPr indent="0" marL="0">
              <a:buNone/>
            </a:pPr>
            <a:r>
              <a:rPr lang="en-US" sz="1050" dirty="0">
                <a:solidFill>
                  <a:srgbClr val="9FB3C8"/>
                </a:solidFill>
                <a:latin typeface="Calibri" pitchFamily="34" charset="0"/>
                <a:ea typeface="Calibri" pitchFamily="34" charset="-122"/>
                <a:cs typeface="Calibri" pitchFamily="34" charset="-120"/>
              </a:rPr>
              <a:t>Companion to the team review deck  ·  Draft for feedback</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92608"/>
            <a:ext cx="10607040" cy="566928"/>
          </a:xfrm>
          <a:prstGeom prst="rect">
            <a:avLst/>
          </a:prstGeom>
          <a:noFill/>
          <a:ln/>
        </p:spPr>
        <p:txBody>
          <a:bodyPr wrap="square" lIns="0" tIns="0" rIns="0" bIns="0" rtlCol="0" anchor="ctr"/>
          <a:lstStyle/>
          <a:p>
            <a:pPr indent="0" marL="0">
              <a:buNone/>
            </a:pPr>
            <a:r>
              <a:rPr lang="en-US" sz="2600" b="1" dirty="0">
                <a:solidFill>
                  <a:srgbClr val="1F3A5F"/>
                </a:solidFill>
                <a:latin typeface="Calibri" pitchFamily="34" charset="0"/>
                <a:ea typeface="Calibri" pitchFamily="34" charset="-122"/>
                <a:cs typeface="Calibri" pitchFamily="34" charset="-120"/>
              </a:rPr>
              <a:t>The journey at a glance</a:t>
            </a:r>
            <a:endParaRPr lang="en-US" sz="2600" dirty="0"/>
          </a:p>
        </p:txBody>
      </p:sp>
      <p:sp>
        <p:nvSpPr>
          <p:cNvPr id="3" name="Text 1"/>
          <p:cNvSpPr/>
          <p:nvPr/>
        </p:nvSpPr>
        <p:spPr>
          <a:xfrm>
            <a:off x="521208" y="859536"/>
            <a:ext cx="10607040" cy="274320"/>
          </a:xfrm>
          <a:prstGeom prst="rect">
            <a:avLst/>
          </a:prstGeom>
          <a:noFill/>
          <a:ln/>
        </p:spPr>
        <p:txBody>
          <a:bodyPr wrap="square" lIns="0" tIns="0" rIns="0" bIns="0" rtlCol="0" anchor="ctr"/>
          <a:lstStyle/>
          <a:p>
            <a:pPr indent="0" marL="0">
              <a:buNone/>
            </a:pPr>
            <a:r>
              <a:rPr lang="en-US" sz="1050" b="1" spc="300" kern="0" dirty="0">
                <a:solidFill>
                  <a:srgbClr val="2A9D8C"/>
                </a:solidFill>
                <a:latin typeface="Calibri" pitchFamily="34" charset="0"/>
                <a:ea typeface="Calibri" pitchFamily="34" charset="-122"/>
                <a:cs typeface="Calibri" pitchFamily="34" charset="-120"/>
              </a:rPr>
              <a:t>FIVE MOVES, EACH DRIVEN BY FEEDBACK</a:t>
            </a:r>
            <a:endParaRPr lang="en-US" sz="1050" dirty="0"/>
          </a:p>
        </p:txBody>
      </p:sp>
      <p:sp>
        <p:nvSpPr>
          <p:cNvPr id="4" name="Text 2"/>
          <p:cNvSpPr/>
          <p:nvPr/>
        </p:nvSpPr>
        <p:spPr>
          <a:xfrm>
            <a:off x="502920" y="6473952"/>
            <a:ext cx="8686800" cy="274320"/>
          </a:xfrm>
          <a:prstGeom prst="rect">
            <a:avLst/>
          </a:prstGeom>
          <a:noFill/>
          <a:ln/>
        </p:spPr>
        <p:txBody>
          <a:bodyPr wrap="square" lIns="0" tIns="0" rIns="0" bIns="0" rtlCol="0" anchor="ctr"/>
          <a:lstStyle/>
          <a:p>
            <a:pPr indent="0" marL="0">
              <a:buNone/>
            </a:pPr>
            <a:r>
              <a:rPr lang="en-US" sz="850" dirty="0">
                <a:solidFill>
                  <a:srgbClr val="6E7B8A"/>
                </a:solidFill>
                <a:latin typeface="Calibri" pitchFamily="34" charset="0"/>
                <a:ea typeface="Calibri" pitchFamily="34" charset="-122"/>
                <a:cs typeface="Calibri" pitchFamily="34" charset="-120"/>
              </a:rPr>
              <a:t>PAVE  ·  Security Engagement Operating Model  ·  How the model evolved</a:t>
            </a:r>
            <a:endParaRPr lang="en-US" sz="850" dirty="0"/>
          </a:p>
        </p:txBody>
      </p:sp>
      <p:sp>
        <p:nvSpPr>
          <p:cNvPr id="5" name="Text 3"/>
          <p:cNvSpPr/>
          <p:nvPr/>
        </p:nvSpPr>
        <p:spPr>
          <a:xfrm>
            <a:off x="11475720" y="6473952"/>
            <a:ext cx="457200" cy="274320"/>
          </a:xfrm>
          <a:prstGeom prst="rect">
            <a:avLst/>
          </a:prstGeom>
          <a:noFill/>
          <a:ln/>
        </p:spPr>
        <p:txBody>
          <a:bodyPr wrap="square" lIns="0" tIns="0" rIns="0" bIns="0" rtlCol="0" anchor="ctr"/>
          <a:lstStyle/>
          <a:p>
            <a:pPr algn="r" indent="0" marL="0">
              <a:buNone/>
            </a:pPr>
            <a:r>
              <a:rPr lang="en-US" sz="850" dirty="0">
                <a:solidFill>
                  <a:srgbClr val="6E7B8A"/>
                </a:solidFill>
                <a:latin typeface="Calibri" pitchFamily="34" charset="0"/>
                <a:ea typeface="Calibri" pitchFamily="34" charset="-122"/>
                <a:cs typeface="Calibri" pitchFamily="34" charset="-120"/>
              </a:rPr>
              <a:t>1</a:t>
            </a:r>
            <a:endParaRPr lang="en-US" sz="850" dirty="0"/>
          </a:p>
        </p:txBody>
      </p:sp>
      <p:sp>
        <p:nvSpPr>
          <p:cNvPr id="6" name="Shape 4"/>
          <p:cNvSpPr/>
          <p:nvPr/>
        </p:nvSpPr>
        <p:spPr>
          <a:xfrm>
            <a:off x="594360" y="2532888"/>
            <a:ext cx="11265408" cy="0"/>
          </a:xfrm>
          <a:prstGeom prst="line">
            <a:avLst/>
          </a:prstGeom>
          <a:noFill/>
          <a:ln w="25400">
            <a:solidFill>
              <a:srgbClr val="C9D2DD"/>
            </a:solidFill>
            <a:prstDash val="solid"/>
          </a:ln>
        </p:spPr>
      </p:sp>
      <p:sp>
        <p:nvSpPr>
          <p:cNvPr id="7" name="Shape 5"/>
          <p:cNvSpPr/>
          <p:nvPr/>
        </p:nvSpPr>
        <p:spPr>
          <a:xfrm>
            <a:off x="1453896" y="2404872"/>
            <a:ext cx="256032" cy="256032"/>
          </a:xfrm>
          <a:prstGeom prst="ellipse">
            <a:avLst/>
          </a:prstGeom>
          <a:solidFill>
            <a:srgbClr val="557A95"/>
          </a:solidFill>
          <a:ln w="25400">
            <a:solidFill>
              <a:srgbClr val="FFFFFF"/>
            </a:solidFill>
            <a:prstDash val="solid"/>
          </a:ln>
        </p:spPr>
      </p:sp>
      <p:sp>
        <p:nvSpPr>
          <p:cNvPr id="8" name="Shape 6"/>
          <p:cNvSpPr/>
          <p:nvPr/>
        </p:nvSpPr>
        <p:spPr>
          <a:xfrm>
            <a:off x="502920" y="2880360"/>
            <a:ext cx="2157984" cy="2468880"/>
          </a:xfrm>
          <a:prstGeom prst="roundRect">
            <a:avLst>
              <a:gd name="adj" fmla="val 2331"/>
            </a:avLst>
          </a:prstGeom>
          <a:solidFill>
            <a:srgbClr val="FFFFFF"/>
          </a:solidFill>
          <a:ln w="12700">
            <a:solidFill>
              <a:srgbClr val="C9D2DD"/>
            </a:solidFill>
            <a:prstDash val="solid"/>
          </a:ln>
        </p:spPr>
      </p:sp>
      <p:sp>
        <p:nvSpPr>
          <p:cNvPr id="9" name="Shape 7"/>
          <p:cNvSpPr/>
          <p:nvPr/>
        </p:nvSpPr>
        <p:spPr>
          <a:xfrm>
            <a:off x="502920" y="2880360"/>
            <a:ext cx="2157984" cy="68580"/>
          </a:xfrm>
          <a:prstGeom prst="rect">
            <a:avLst/>
          </a:prstGeom>
          <a:solidFill>
            <a:srgbClr val="557A95"/>
          </a:solidFill>
          <a:ln/>
        </p:spPr>
      </p:sp>
      <p:sp>
        <p:nvSpPr>
          <p:cNvPr id="10" name="Text 8"/>
          <p:cNvSpPr/>
          <p:nvPr/>
        </p:nvSpPr>
        <p:spPr>
          <a:xfrm>
            <a:off x="630936" y="3026664"/>
            <a:ext cx="1901952" cy="502920"/>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First full draft</a:t>
            </a:r>
            <a:endParaRPr lang="en-US" sz="1250" dirty="0"/>
          </a:p>
        </p:txBody>
      </p:sp>
      <p:sp>
        <p:nvSpPr>
          <p:cNvPr id="11" name="Text 9"/>
          <p:cNvSpPr/>
          <p:nvPr/>
        </p:nvSpPr>
        <p:spPr>
          <a:xfrm>
            <a:off x="630936" y="3538728"/>
            <a:ext cx="1901952" cy="1691640"/>
          </a:xfrm>
          <a:prstGeom prst="rect">
            <a:avLst/>
          </a:prstGeom>
          <a:noFill/>
          <a:ln/>
        </p:spPr>
        <p:txBody>
          <a:bodyPr wrap="square" lIns="0" tIns="0" rIns="0" bIns="0" rtlCol="0" anchor="t"/>
          <a:lstStyle/>
          <a:p>
            <a:pPr indent="0" marL="0">
              <a:buNone/>
            </a:pPr>
            <a:r>
              <a:rPr lang="en-US" sz="980" dirty="0">
                <a:solidFill>
                  <a:srgbClr val="30363D"/>
                </a:solidFill>
                <a:latin typeface="Calibri" pitchFamily="34" charset="0"/>
                <a:ea typeface="Calibri" pitchFamily="34" charset="-122"/>
                <a:cs typeface="Calibri" pitchFamily="34" charset="-120"/>
              </a:rPr>
              <a:t>Approver to enabler. Paved roads, earned autonomy, a self-service triage; champions retired.</a:t>
            </a:r>
            <a:endParaRPr lang="en-US" sz="980" dirty="0"/>
          </a:p>
        </p:txBody>
      </p:sp>
      <p:sp>
        <p:nvSpPr>
          <p:cNvPr id="12" name="Shape 10"/>
          <p:cNvSpPr/>
          <p:nvPr/>
        </p:nvSpPr>
        <p:spPr>
          <a:xfrm>
            <a:off x="3776472" y="2404872"/>
            <a:ext cx="256032" cy="256032"/>
          </a:xfrm>
          <a:prstGeom prst="ellipse">
            <a:avLst/>
          </a:prstGeom>
          <a:solidFill>
            <a:srgbClr val="2E75B6"/>
          </a:solidFill>
          <a:ln w="25400">
            <a:solidFill>
              <a:srgbClr val="FFFFFF"/>
            </a:solidFill>
            <a:prstDash val="solid"/>
          </a:ln>
        </p:spPr>
      </p:sp>
      <p:sp>
        <p:nvSpPr>
          <p:cNvPr id="13" name="Shape 11"/>
          <p:cNvSpPr/>
          <p:nvPr/>
        </p:nvSpPr>
        <p:spPr>
          <a:xfrm>
            <a:off x="2825496" y="2880360"/>
            <a:ext cx="2157984" cy="2468880"/>
          </a:xfrm>
          <a:prstGeom prst="roundRect">
            <a:avLst>
              <a:gd name="adj" fmla="val 2331"/>
            </a:avLst>
          </a:prstGeom>
          <a:solidFill>
            <a:srgbClr val="FFFFFF"/>
          </a:solidFill>
          <a:ln w="12700">
            <a:solidFill>
              <a:srgbClr val="C9D2DD"/>
            </a:solidFill>
            <a:prstDash val="solid"/>
          </a:ln>
        </p:spPr>
      </p:sp>
      <p:sp>
        <p:nvSpPr>
          <p:cNvPr id="14" name="Shape 12"/>
          <p:cNvSpPr/>
          <p:nvPr/>
        </p:nvSpPr>
        <p:spPr>
          <a:xfrm>
            <a:off x="2825496" y="2880360"/>
            <a:ext cx="2157984" cy="68580"/>
          </a:xfrm>
          <a:prstGeom prst="rect">
            <a:avLst/>
          </a:prstGeom>
          <a:solidFill>
            <a:srgbClr val="2E75B6"/>
          </a:solidFill>
          <a:ln/>
        </p:spPr>
      </p:sp>
      <p:sp>
        <p:nvSpPr>
          <p:cNvPr id="15" name="Text 13"/>
          <p:cNvSpPr/>
          <p:nvPr/>
        </p:nvSpPr>
        <p:spPr>
          <a:xfrm>
            <a:off x="2953512" y="3026664"/>
            <a:ext cx="1901952" cy="502920"/>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Teams and root cause</a:t>
            </a:r>
            <a:endParaRPr lang="en-US" sz="1250" dirty="0"/>
          </a:p>
        </p:txBody>
      </p:sp>
      <p:sp>
        <p:nvSpPr>
          <p:cNvPr id="16" name="Text 14"/>
          <p:cNvSpPr/>
          <p:nvPr/>
        </p:nvSpPr>
        <p:spPr>
          <a:xfrm>
            <a:off x="2953512" y="3538728"/>
            <a:ext cx="1901952" cy="1691640"/>
          </a:xfrm>
          <a:prstGeom prst="rect">
            <a:avLst/>
          </a:prstGeom>
          <a:noFill/>
          <a:ln/>
        </p:spPr>
        <p:txBody>
          <a:bodyPr wrap="square" lIns="0" tIns="0" rIns="0" bIns="0" rtlCol="0" anchor="t"/>
          <a:lstStyle/>
          <a:p>
            <a:pPr indent="0" marL="0">
              <a:buNone/>
            </a:pPr>
            <a:r>
              <a:rPr lang="en-US" sz="980" dirty="0">
                <a:solidFill>
                  <a:srgbClr val="30363D"/>
                </a:solidFill>
                <a:latin typeface="Calibri" pitchFamily="34" charset="0"/>
                <a:ea typeface="Calibri" pitchFamily="34" charset="-122"/>
                <a:cs typeface="Calibri" pitchFamily="34" charset="-120"/>
              </a:rPr>
              <a:t>Four InfoSec teams mapped, SOC distinct. Root cause reframed: ownership misplaced, not InfoSec deciding at all.</a:t>
            </a:r>
            <a:endParaRPr lang="en-US" sz="980" dirty="0"/>
          </a:p>
        </p:txBody>
      </p:sp>
      <p:sp>
        <p:nvSpPr>
          <p:cNvPr id="17" name="Shape 15"/>
          <p:cNvSpPr/>
          <p:nvPr/>
        </p:nvSpPr>
        <p:spPr>
          <a:xfrm>
            <a:off x="6099048" y="2404872"/>
            <a:ext cx="256032" cy="256032"/>
          </a:xfrm>
          <a:prstGeom prst="ellipse">
            <a:avLst/>
          </a:prstGeom>
          <a:solidFill>
            <a:srgbClr val="2A9D8C"/>
          </a:solidFill>
          <a:ln w="25400">
            <a:solidFill>
              <a:srgbClr val="FFFFFF"/>
            </a:solidFill>
            <a:prstDash val="solid"/>
          </a:ln>
        </p:spPr>
      </p:sp>
      <p:sp>
        <p:nvSpPr>
          <p:cNvPr id="18" name="Shape 16"/>
          <p:cNvSpPr/>
          <p:nvPr/>
        </p:nvSpPr>
        <p:spPr>
          <a:xfrm>
            <a:off x="5148072" y="2880360"/>
            <a:ext cx="2157984" cy="2468880"/>
          </a:xfrm>
          <a:prstGeom prst="roundRect">
            <a:avLst>
              <a:gd name="adj" fmla="val 2331"/>
            </a:avLst>
          </a:prstGeom>
          <a:solidFill>
            <a:srgbClr val="FFFFFF"/>
          </a:solidFill>
          <a:ln w="12700">
            <a:solidFill>
              <a:srgbClr val="C9D2DD"/>
            </a:solidFill>
            <a:prstDash val="solid"/>
          </a:ln>
        </p:spPr>
      </p:sp>
      <p:sp>
        <p:nvSpPr>
          <p:cNvPr id="19" name="Shape 17"/>
          <p:cNvSpPr/>
          <p:nvPr/>
        </p:nvSpPr>
        <p:spPr>
          <a:xfrm>
            <a:off x="5148072" y="2880360"/>
            <a:ext cx="2157984" cy="68580"/>
          </a:xfrm>
          <a:prstGeom prst="rect">
            <a:avLst/>
          </a:prstGeom>
          <a:solidFill>
            <a:srgbClr val="2A9D8C"/>
          </a:solidFill>
          <a:ln/>
        </p:spPr>
      </p:sp>
      <p:sp>
        <p:nvSpPr>
          <p:cNvPr id="20" name="Text 18"/>
          <p:cNvSpPr/>
          <p:nvPr/>
        </p:nvSpPr>
        <p:spPr>
          <a:xfrm>
            <a:off x="5276088" y="3026664"/>
            <a:ext cx="1901952" cy="502920"/>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Guardrails pivot</a:t>
            </a:r>
            <a:endParaRPr lang="en-US" sz="1250" dirty="0"/>
          </a:p>
        </p:txBody>
      </p:sp>
      <p:sp>
        <p:nvSpPr>
          <p:cNvPr id="21" name="Text 19"/>
          <p:cNvSpPr/>
          <p:nvPr/>
        </p:nvSpPr>
        <p:spPr>
          <a:xfrm>
            <a:off x="5276088" y="3538728"/>
            <a:ext cx="1901952" cy="1691640"/>
          </a:xfrm>
          <a:prstGeom prst="rect">
            <a:avLst/>
          </a:prstGeom>
          <a:noFill/>
          <a:ln/>
        </p:spPr>
        <p:txBody>
          <a:bodyPr wrap="square" lIns="0" tIns="0" rIns="0" bIns="0" rtlCol="0" anchor="t"/>
          <a:lstStyle/>
          <a:p>
            <a:pPr indent="0" marL="0">
              <a:buNone/>
            </a:pPr>
            <a:r>
              <a:rPr lang="en-US" sz="980" dirty="0">
                <a:solidFill>
                  <a:srgbClr val="30363D"/>
                </a:solidFill>
                <a:latin typeface="Calibri" pitchFamily="34" charset="0"/>
                <a:ea typeface="Calibri" pitchFamily="34" charset="-122"/>
                <a:cs typeface="Calibri" pitchFamily="34" charset="-120"/>
              </a:rPr>
              <a:t>Paved roads out: unmaintainable across concurrent workstreams. Guardrails in; autonomy removed; triage goes multi-level.</a:t>
            </a:r>
            <a:endParaRPr lang="en-US" sz="980" dirty="0"/>
          </a:p>
        </p:txBody>
      </p:sp>
      <p:sp>
        <p:nvSpPr>
          <p:cNvPr id="22" name="Shape 20"/>
          <p:cNvSpPr/>
          <p:nvPr/>
        </p:nvSpPr>
        <p:spPr>
          <a:xfrm>
            <a:off x="8421624" y="2404872"/>
            <a:ext cx="256032" cy="256032"/>
          </a:xfrm>
          <a:prstGeom prst="ellipse">
            <a:avLst/>
          </a:prstGeom>
          <a:solidFill>
            <a:srgbClr val="E0A458"/>
          </a:solidFill>
          <a:ln w="25400">
            <a:solidFill>
              <a:srgbClr val="FFFFFF"/>
            </a:solidFill>
            <a:prstDash val="solid"/>
          </a:ln>
        </p:spPr>
      </p:sp>
      <p:sp>
        <p:nvSpPr>
          <p:cNvPr id="23" name="Shape 21"/>
          <p:cNvSpPr/>
          <p:nvPr/>
        </p:nvSpPr>
        <p:spPr>
          <a:xfrm>
            <a:off x="7470648" y="2880360"/>
            <a:ext cx="2157984" cy="2468880"/>
          </a:xfrm>
          <a:prstGeom prst="roundRect">
            <a:avLst>
              <a:gd name="adj" fmla="val 2331"/>
            </a:avLst>
          </a:prstGeom>
          <a:solidFill>
            <a:srgbClr val="FFFFFF"/>
          </a:solidFill>
          <a:ln w="12700">
            <a:solidFill>
              <a:srgbClr val="C9D2DD"/>
            </a:solidFill>
            <a:prstDash val="solid"/>
          </a:ln>
        </p:spPr>
      </p:sp>
      <p:sp>
        <p:nvSpPr>
          <p:cNvPr id="24" name="Shape 22"/>
          <p:cNvSpPr/>
          <p:nvPr/>
        </p:nvSpPr>
        <p:spPr>
          <a:xfrm>
            <a:off x="7470648" y="2880360"/>
            <a:ext cx="2157984" cy="68580"/>
          </a:xfrm>
          <a:prstGeom prst="rect">
            <a:avLst/>
          </a:prstGeom>
          <a:solidFill>
            <a:srgbClr val="E0A458"/>
          </a:solidFill>
          <a:ln/>
        </p:spPr>
      </p:sp>
      <p:sp>
        <p:nvSpPr>
          <p:cNvPr id="25" name="Text 23"/>
          <p:cNvSpPr/>
          <p:nvPr/>
        </p:nvSpPr>
        <p:spPr>
          <a:xfrm>
            <a:off x="7598664" y="3026664"/>
            <a:ext cx="1901952" cy="502920"/>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Instrumented triage</a:t>
            </a:r>
            <a:endParaRPr lang="en-US" sz="1250" dirty="0"/>
          </a:p>
        </p:txBody>
      </p:sp>
      <p:sp>
        <p:nvSpPr>
          <p:cNvPr id="26" name="Text 24"/>
          <p:cNvSpPr/>
          <p:nvPr/>
        </p:nvSpPr>
        <p:spPr>
          <a:xfrm>
            <a:off x="7598664" y="3538728"/>
            <a:ext cx="1901952" cy="1691640"/>
          </a:xfrm>
          <a:prstGeom prst="rect">
            <a:avLst/>
          </a:prstGeom>
          <a:noFill/>
          <a:ln/>
        </p:spPr>
        <p:txBody>
          <a:bodyPr wrap="square" lIns="0" tIns="0" rIns="0" bIns="0" rtlCol="0" anchor="t"/>
          <a:lstStyle/>
          <a:p>
            <a:pPr indent="0" marL="0">
              <a:buNone/>
            </a:pPr>
            <a:r>
              <a:rPr lang="en-US" sz="980" dirty="0">
                <a:solidFill>
                  <a:srgbClr val="30363D"/>
                </a:solidFill>
                <a:latin typeface="Calibri" pitchFamily="34" charset="0"/>
                <a:ea typeface="Calibri" pitchFamily="34" charset="-122"/>
                <a:cs typeface="Calibri" pitchFamily="34" charset="-120"/>
              </a:rPr>
              <a:t>Change captured by signals, not self-report. A fail-closed triage-currency gate becomes the pilot control.</a:t>
            </a:r>
            <a:endParaRPr lang="en-US" sz="980" dirty="0"/>
          </a:p>
        </p:txBody>
      </p:sp>
      <p:sp>
        <p:nvSpPr>
          <p:cNvPr id="27" name="Shape 25"/>
          <p:cNvSpPr/>
          <p:nvPr/>
        </p:nvSpPr>
        <p:spPr>
          <a:xfrm>
            <a:off x="10744200" y="2404872"/>
            <a:ext cx="256032" cy="256032"/>
          </a:xfrm>
          <a:prstGeom prst="ellipse">
            <a:avLst/>
          </a:prstGeom>
          <a:solidFill>
            <a:srgbClr val="1F3A5F"/>
          </a:solidFill>
          <a:ln w="25400">
            <a:solidFill>
              <a:srgbClr val="FFFFFF"/>
            </a:solidFill>
            <a:prstDash val="solid"/>
          </a:ln>
        </p:spPr>
      </p:sp>
      <p:sp>
        <p:nvSpPr>
          <p:cNvPr id="28" name="Shape 26"/>
          <p:cNvSpPr/>
          <p:nvPr/>
        </p:nvSpPr>
        <p:spPr>
          <a:xfrm>
            <a:off x="9793224" y="2880360"/>
            <a:ext cx="2157984" cy="2468880"/>
          </a:xfrm>
          <a:prstGeom prst="roundRect">
            <a:avLst>
              <a:gd name="adj" fmla="val 2331"/>
            </a:avLst>
          </a:prstGeom>
          <a:solidFill>
            <a:srgbClr val="FFFFFF"/>
          </a:solidFill>
          <a:ln w="12700">
            <a:solidFill>
              <a:srgbClr val="C9D2DD"/>
            </a:solidFill>
            <a:prstDash val="solid"/>
          </a:ln>
        </p:spPr>
      </p:sp>
      <p:sp>
        <p:nvSpPr>
          <p:cNvPr id="29" name="Shape 27"/>
          <p:cNvSpPr/>
          <p:nvPr/>
        </p:nvSpPr>
        <p:spPr>
          <a:xfrm>
            <a:off x="9793224" y="2880360"/>
            <a:ext cx="2157984" cy="68580"/>
          </a:xfrm>
          <a:prstGeom prst="rect">
            <a:avLst/>
          </a:prstGeom>
          <a:solidFill>
            <a:srgbClr val="1F3A5F"/>
          </a:solidFill>
          <a:ln/>
        </p:spPr>
      </p:sp>
      <p:sp>
        <p:nvSpPr>
          <p:cNvPr id="30" name="Text 28"/>
          <p:cNvSpPr/>
          <p:nvPr/>
        </p:nvSpPr>
        <p:spPr>
          <a:xfrm>
            <a:off x="9921240" y="3026664"/>
            <a:ext cx="1901952" cy="502920"/>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Standards, two pillars</a:t>
            </a:r>
            <a:endParaRPr lang="en-US" sz="1250" dirty="0"/>
          </a:p>
        </p:txBody>
      </p:sp>
      <p:sp>
        <p:nvSpPr>
          <p:cNvPr id="31" name="Text 29"/>
          <p:cNvSpPr/>
          <p:nvPr/>
        </p:nvSpPr>
        <p:spPr>
          <a:xfrm>
            <a:off x="9921240" y="3538728"/>
            <a:ext cx="1901952" cy="1691640"/>
          </a:xfrm>
          <a:prstGeom prst="rect">
            <a:avLst/>
          </a:prstGeom>
          <a:noFill/>
          <a:ln/>
        </p:spPr>
        <p:txBody>
          <a:bodyPr wrap="square" lIns="0" tIns="0" rIns="0" bIns="0" rtlCol="0" anchor="t"/>
          <a:lstStyle/>
          <a:p>
            <a:pPr indent="0" marL="0">
              <a:buNone/>
            </a:pPr>
            <a:r>
              <a:rPr lang="en-US" sz="980" dirty="0">
                <a:solidFill>
                  <a:srgbClr val="30363D"/>
                </a:solidFill>
                <a:latin typeface="Calibri" pitchFamily="34" charset="0"/>
                <a:ea typeface="Calibri" pitchFamily="34" charset="-122"/>
                <a:cs typeface="Calibri" pitchFamily="34" charset="-120"/>
              </a:rPr>
              <a:t>Guardrails out of the model; standards carry the define-good role. Enforceable guardrails become a planned addition.</a:t>
            </a:r>
            <a:endParaRPr lang="en-US" sz="980" dirty="0"/>
          </a:p>
        </p:txBody>
      </p:sp>
      <p:sp>
        <p:nvSpPr>
          <p:cNvPr id="32" name="Text 30"/>
          <p:cNvSpPr/>
          <p:nvPr/>
        </p:nvSpPr>
        <p:spPr>
          <a:xfrm>
            <a:off x="502920" y="5806440"/>
            <a:ext cx="11155680" cy="32004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Each move is recorded in the version history, and every piece of review feedback has a logged disposition.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10607040" cy="566928"/>
          </a:xfrm>
          <a:prstGeom prst="rect">
            <a:avLst/>
          </a:prstGeom>
          <a:noFill/>
          <a:ln/>
        </p:spPr>
        <p:txBody>
          <a:bodyPr wrap="square" lIns="0" tIns="0" rIns="0" bIns="0" rtlCol="0" anchor="ctr"/>
          <a:lstStyle/>
          <a:p>
            <a:pPr indent="0" marL="0">
              <a:buNone/>
            </a:pPr>
            <a:r>
              <a:rPr lang="en-US" sz="2600" b="1" dirty="0">
                <a:solidFill>
                  <a:srgbClr val="1F3A5F"/>
                </a:solidFill>
                <a:latin typeface="Calibri" pitchFamily="34" charset="0"/>
                <a:ea typeface="Calibri" pitchFamily="34" charset="-122"/>
                <a:cs typeface="Calibri" pitchFamily="34" charset="-120"/>
              </a:rPr>
              <a:t>What never moved</a:t>
            </a:r>
            <a:endParaRPr lang="en-US" sz="2600" dirty="0"/>
          </a:p>
        </p:txBody>
      </p:sp>
      <p:sp>
        <p:nvSpPr>
          <p:cNvPr id="3" name="Text 1"/>
          <p:cNvSpPr/>
          <p:nvPr/>
        </p:nvSpPr>
        <p:spPr>
          <a:xfrm>
            <a:off x="521208" y="859536"/>
            <a:ext cx="10607040" cy="274320"/>
          </a:xfrm>
          <a:prstGeom prst="rect">
            <a:avLst/>
          </a:prstGeom>
          <a:noFill/>
          <a:ln/>
        </p:spPr>
        <p:txBody>
          <a:bodyPr wrap="square" lIns="0" tIns="0" rIns="0" bIns="0" rtlCol="0" anchor="ctr"/>
          <a:lstStyle/>
          <a:p>
            <a:pPr indent="0" marL="0">
              <a:buNone/>
            </a:pPr>
            <a:r>
              <a:rPr lang="en-US" sz="1050" b="1" spc="300" kern="0" dirty="0">
                <a:solidFill>
                  <a:srgbClr val="2A9D8C"/>
                </a:solidFill>
                <a:latin typeface="Calibri" pitchFamily="34" charset="0"/>
                <a:ea typeface="Calibri" pitchFamily="34" charset="-122"/>
                <a:cs typeface="Calibri" pitchFamily="34" charset="-120"/>
              </a:rPr>
              <a:t>THE SPINE HELD THROUGH EVERY REVISION</a:t>
            </a:r>
            <a:endParaRPr lang="en-US" sz="1050" dirty="0"/>
          </a:p>
        </p:txBody>
      </p:sp>
      <p:sp>
        <p:nvSpPr>
          <p:cNvPr id="4" name="Text 2"/>
          <p:cNvSpPr/>
          <p:nvPr/>
        </p:nvSpPr>
        <p:spPr>
          <a:xfrm>
            <a:off x="502920" y="6473952"/>
            <a:ext cx="8686800" cy="274320"/>
          </a:xfrm>
          <a:prstGeom prst="rect">
            <a:avLst/>
          </a:prstGeom>
          <a:noFill/>
          <a:ln/>
        </p:spPr>
        <p:txBody>
          <a:bodyPr wrap="square" lIns="0" tIns="0" rIns="0" bIns="0" rtlCol="0" anchor="ctr"/>
          <a:lstStyle/>
          <a:p>
            <a:pPr indent="0" marL="0">
              <a:buNone/>
            </a:pPr>
            <a:r>
              <a:rPr lang="en-US" sz="850" dirty="0">
                <a:solidFill>
                  <a:srgbClr val="6E7B8A"/>
                </a:solidFill>
                <a:latin typeface="Calibri" pitchFamily="34" charset="0"/>
                <a:ea typeface="Calibri" pitchFamily="34" charset="-122"/>
                <a:cs typeface="Calibri" pitchFamily="34" charset="-120"/>
              </a:rPr>
              <a:t>PAVE  ·  Security Engagement Operating Model  ·  How the model evolved</a:t>
            </a:r>
            <a:endParaRPr lang="en-US" sz="850" dirty="0"/>
          </a:p>
        </p:txBody>
      </p:sp>
      <p:sp>
        <p:nvSpPr>
          <p:cNvPr id="5" name="Text 3"/>
          <p:cNvSpPr/>
          <p:nvPr/>
        </p:nvSpPr>
        <p:spPr>
          <a:xfrm>
            <a:off x="11475720" y="6473952"/>
            <a:ext cx="457200" cy="274320"/>
          </a:xfrm>
          <a:prstGeom prst="rect">
            <a:avLst/>
          </a:prstGeom>
          <a:noFill/>
          <a:ln/>
        </p:spPr>
        <p:txBody>
          <a:bodyPr wrap="square" lIns="0" tIns="0" rIns="0" bIns="0" rtlCol="0" anchor="ctr"/>
          <a:lstStyle/>
          <a:p>
            <a:pPr algn="r" indent="0" marL="0">
              <a:buNone/>
            </a:pPr>
            <a:r>
              <a:rPr lang="en-US" sz="850" dirty="0">
                <a:solidFill>
                  <a:srgbClr val="6E7B8A"/>
                </a:solidFill>
                <a:latin typeface="Calibri" pitchFamily="34" charset="0"/>
                <a:ea typeface="Calibri" pitchFamily="34" charset="-122"/>
                <a:cs typeface="Calibri" pitchFamily="34" charset="-120"/>
              </a:rPr>
              <a:t>2</a:t>
            </a:r>
            <a:endParaRPr lang="en-US" sz="850" dirty="0"/>
          </a:p>
        </p:txBody>
      </p:sp>
      <p:sp>
        <p:nvSpPr>
          <p:cNvPr id="6" name="Shape 4"/>
          <p:cNvSpPr/>
          <p:nvPr/>
        </p:nvSpPr>
        <p:spPr>
          <a:xfrm>
            <a:off x="502920" y="1463040"/>
            <a:ext cx="3611880" cy="2057400"/>
          </a:xfrm>
          <a:prstGeom prst="roundRect">
            <a:avLst>
              <a:gd name="adj" fmla="val 2444"/>
            </a:avLst>
          </a:prstGeom>
          <a:solidFill>
            <a:srgbClr val="FFFFFF"/>
          </a:solidFill>
          <a:ln w="12700">
            <a:solidFill>
              <a:srgbClr val="C9D2DD"/>
            </a:solidFill>
            <a:prstDash val="solid"/>
          </a:ln>
        </p:spPr>
      </p:sp>
      <p:sp>
        <p:nvSpPr>
          <p:cNvPr id="7" name="Shape 5"/>
          <p:cNvSpPr/>
          <p:nvPr/>
        </p:nvSpPr>
        <p:spPr>
          <a:xfrm>
            <a:off x="502920" y="1463040"/>
            <a:ext cx="54864" cy="2057400"/>
          </a:xfrm>
          <a:prstGeom prst="rect">
            <a:avLst/>
          </a:prstGeom>
          <a:solidFill>
            <a:srgbClr val="1F3A5F"/>
          </a:solidFill>
          <a:ln/>
        </p:spPr>
      </p:sp>
      <p:sp>
        <p:nvSpPr>
          <p:cNvPr id="8" name="Text 6"/>
          <p:cNvSpPr/>
          <p:nvPr/>
        </p:nvSpPr>
        <p:spPr>
          <a:xfrm>
            <a:off x="685800" y="1609344"/>
            <a:ext cx="3246120" cy="502920"/>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From approver to enabler</a:t>
            </a:r>
            <a:endParaRPr lang="en-US" sz="1350" dirty="0"/>
          </a:p>
        </p:txBody>
      </p:sp>
      <p:sp>
        <p:nvSpPr>
          <p:cNvPr id="9" name="Text 7"/>
          <p:cNvSpPr/>
          <p:nvPr/>
        </p:nvSpPr>
        <p:spPr>
          <a:xfrm>
            <a:off x="685800" y="2121408"/>
            <a:ext cx="3246120" cy="1234440"/>
          </a:xfrm>
          <a:prstGeom prst="rect">
            <a:avLst/>
          </a:prstGeom>
          <a:noFill/>
          <a:ln/>
        </p:spPr>
        <p:txBody>
          <a:bodyPr wrap="square" lIns="0" tIns="0" rIns="0" bIns="0" rtlCol="0" anchor="t"/>
          <a:lstStyle/>
          <a:p>
            <a:pPr indent="0" marL="0">
              <a:buNone/>
            </a:pPr>
            <a:r>
              <a:rPr lang="en-US" sz="1080" dirty="0">
                <a:solidFill>
                  <a:srgbClr val="30363D"/>
                </a:solidFill>
                <a:latin typeface="Calibri" pitchFamily="34" charset="0"/>
                <a:ea typeface="Calibri" pitchFamily="34" charset="-122"/>
                <a:cs typeface="Calibri" pitchFamily="34" charset="-120"/>
              </a:rPr>
              <a:t>The single shift. InfoSec sets the framework, advises and verifies; it stops adjudicating each request.</a:t>
            </a:r>
            <a:endParaRPr lang="en-US" sz="1080" dirty="0"/>
          </a:p>
        </p:txBody>
      </p:sp>
      <p:sp>
        <p:nvSpPr>
          <p:cNvPr id="10" name="Shape 8"/>
          <p:cNvSpPr/>
          <p:nvPr/>
        </p:nvSpPr>
        <p:spPr>
          <a:xfrm>
            <a:off x="4325112" y="1463040"/>
            <a:ext cx="3611880" cy="2057400"/>
          </a:xfrm>
          <a:prstGeom prst="roundRect">
            <a:avLst>
              <a:gd name="adj" fmla="val 2444"/>
            </a:avLst>
          </a:prstGeom>
          <a:solidFill>
            <a:srgbClr val="FFFFFF"/>
          </a:solidFill>
          <a:ln w="12700">
            <a:solidFill>
              <a:srgbClr val="C9D2DD"/>
            </a:solidFill>
            <a:prstDash val="solid"/>
          </a:ln>
        </p:spPr>
      </p:sp>
      <p:sp>
        <p:nvSpPr>
          <p:cNvPr id="11" name="Shape 9"/>
          <p:cNvSpPr/>
          <p:nvPr/>
        </p:nvSpPr>
        <p:spPr>
          <a:xfrm>
            <a:off x="4325112" y="1463040"/>
            <a:ext cx="54864" cy="2057400"/>
          </a:xfrm>
          <a:prstGeom prst="rect">
            <a:avLst/>
          </a:prstGeom>
          <a:solidFill>
            <a:srgbClr val="1F3A5F"/>
          </a:solidFill>
          <a:ln/>
        </p:spPr>
      </p:sp>
      <p:sp>
        <p:nvSpPr>
          <p:cNvPr id="12" name="Text 10"/>
          <p:cNvSpPr/>
          <p:nvPr/>
        </p:nvSpPr>
        <p:spPr>
          <a:xfrm>
            <a:off x="4507992" y="1609344"/>
            <a:ext cx="3246120" cy="502920"/>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Four engagement tiers</a:t>
            </a:r>
            <a:endParaRPr lang="en-US" sz="1350" dirty="0"/>
          </a:p>
        </p:txBody>
      </p:sp>
      <p:sp>
        <p:nvSpPr>
          <p:cNvPr id="13" name="Text 11"/>
          <p:cNvSpPr/>
          <p:nvPr/>
        </p:nvSpPr>
        <p:spPr>
          <a:xfrm>
            <a:off x="4507992" y="2121408"/>
            <a:ext cx="3246120" cy="1234440"/>
          </a:xfrm>
          <a:prstGeom prst="rect">
            <a:avLst/>
          </a:prstGeom>
          <a:noFill/>
          <a:ln/>
        </p:spPr>
        <p:txBody>
          <a:bodyPr wrap="square" lIns="0" tIns="0" rIns="0" bIns="0" rtlCol="0" anchor="t"/>
          <a:lstStyle/>
          <a:p>
            <a:pPr indent="0" marL="0">
              <a:buNone/>
            </a:pPr>
            <a:r>
              <a:rPr lang="en-US" sz="1080" dirty="0">
                <a:solidFill>
                  <a:srgbClr val="30363D"/>
                </a:solidFill>
                <a:latin typeface="Calibri" pitchFamily="34" charset="0"/>
                <a:ea typeface="Calibri" pitchFamily="34" charset="-122"/>
                <a:cs typeface="Calibri" pitchFamily="34" charset="-120"/>
              </a:rPr>
              <a:t>Scrutiny set by blast radius, not by InfoSec availability. Objective triggers compute the tier.</a:t>
            </a:r>
            <a:endParaRPr lang="en-US" sz="1080" dirty="0"/>
          </a:p>
        </p:txBody>
      </p:sp>
      <p:sp>
        <p:nvSpPr>
          <p:cNvPr id="14" name="Shape 12"/>
          <p:cNvSpPr/>
          <p:nvPr/>
        </p:nvSpPr>
        <p:spPr>
          <a:xfrm>
            <a:off x="8147304" y="1463040"/>
            <a:ext cx="3611880" cy="2057400"/>
          </a:xfrm>
          <a:prstGeom prst="roundRect">
            <a:avLst>
              <a:gd name="adj" fmla="val 2444"/>
            </a:avLst>
          </a:prstGeom>
          <a:solidFill>
            <a:srgbClr val="FFFFFF"/>
          </a:solidFill>
          <a:ln w="12700">
            <a:solidFill>
              <a:srgbClr val="C9D2DD"/>
            </a:solidFill>
            <a:prstDash val="solid"/>
          </a:ln>
        </p:spPr>
      </p:sp>
      <p:sp>
        <p:nvSpPr>
          <p:cNvPr id="15" name="Shape 13"/>
          <p:cNvSpPr/>
          <p:nvPr/>
        </p:nvSpPr>
        <p:spPr>
          <a:xfrm>
            <a:off x="8147304" y="1463040"/>
            <a:ext cx="54864" cy="2057400"/>
          </a:xfrm>
          <a:prstGeom prst="rect">
            <a:avLst/>
          </a:prstGeom>
          <a:solidFill>
            <a:srgbClr val="1F3A5F"/>
          </a:solidFill>
          <a:ln/>
        </p:spPr>
      </p:sp>
      <p:sp>
        <p:nvSpPr>
          <p:cNvPr id="16" name="Text 14"/>
          <p:cNvSpPr/>
          <p:nvPr/>
        </p:nvSpPr>
        <p:spPr>
          <a:xfrm>
            <a:off x="8330184" y="1609344"/>
            <a:ext cx="3246120" cy="502920"/>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One self-service front door</a:t>
            </a:r>
            <a:endParaRPr lang="en-US" sz="1350" dirty="0"/>
          </a:p>
        </p:txBody>
      </p:sp>
      <p:sp>
        <p:nvSpPr>
          <p:cNvPr id="17" name="Text 15"/>
          <p:cNvSpPr/>
          <p:nvPr/>
        </p:nvSpPr>
        <p:spPr>
          <a:xfrm>
            <a:off x="8330184" y="2121408"/>
            <a:ext cx="3246120" cy="1234440"/>
          </a:xfrm>
          <a:prstGeom prst="rect">
            <a:avLst/>
          </a:prstGeom>
          <a:noFill/>
          <a:ln/>
        </p:spPr>
        <p:txBody>
          <a:bodyPr wrap="square" lIns="0" tIns="0" rIns="0" bIns="0" rtlCol="0" anchor="t"/>
          <a:lstStyle/>
          <a:p>
            <a:pPr indent="0" marL="0">
              <a:buNone/>
            </a:pPr>
            <a:r>
              <a:rPr lang="en-US" sz="1080" dirty="0">
                <a:solidFill>
                  <a:srgbClr val="30363D"/>
                </a:solidFill>
                <a:latin typeface="Calibri" pitchFamily="34" charset="0"/>
                <a:ea typeface="Calibri" pitchFamily="34" charset="-122"/>
                <a:cs typeface="Calibri" pitchFamily="34" charset="-120"/>
              </a:rPr>
              <a:t>The Design and Risk Triage, completed by the team before development. Still the one mandatory touchpoint.</a:t>
            </a:r>
            <a:endParaRPr lang="en-US" sz="1080" dirty="0"/>
          </a:p>
        </p:txBody>
      </p:sp>
      <p:sp>
        <p:nvSpPr>
          <p:cNvPr id="18" name="Shape 16"/>
          <p:cNvSpPr/>
          <p:nvPr/>
        </p:nvSpPr>
        <p:spPr>
          <a:xfrm>
            <a:off x="502920" y="3749040"/>
            <a:ext cx="3611880" cy="2057400"/>
          </a:xfrm>
          <a:prstGeom prst="roundRect">
            <a:avLst>
              <a:gd name="adj" fmla="val 2444"/>
            </a:avLst>
          </a:prstGeom>
          <a:solidFill>
            <a:srgbClr val="FFFFFF"/>
          </a:solidFill>
          <a:ln w="12700">
            <a:solidFill>
              <a:srgbClr val="C9D2DD"/>
            </a:solidFill>
            <a:prstDash val="solid"/>
          </a:ln>
        </p:spPr>
      </p:sp>
      <p:sp>
        <p:nvSpPr>
          <p:cNvPr id="19" name="Shape 17"/>
          <p:cNvSpPr/>
          <p:nvPr/>
        </p:nvSpPr>
        <p:spPr>
          <a:xfrm>
            <a:off x="502920" y="3749040"/>
            <a:ext cx="54864" cy="2057400"/>
          </a:xfrm>
          <a:prstGeom prst="rect">
            <a:avLst/>
          </a:prstGeom>
          <a:solidFill>
            <a:srgbClr val="1F3A5F"/>
          </a:solidFill>
          <a:ln/>
        </p:spPr>
      </p:sp>
      <p:sp>
        <p:nvSpPr>
          <p:cNvPr id="20" name="Text 18"/>
          <p:cNvSpPr/>
          <p:nvPr/>
        </p:nvSpPr>
        <p:spPr>
          <a:xfrm>
            <a:off x="685800" y="3895344"/>
            <a:ext cx="3246120" cy="502920"/>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Named owners, scored risk</a:t>
            </a:r>
            <a:endParaRPr lang="en-US" sz="1350" dirty="0"/>
          </a:p>
        </p:txBody>
      </p:sp>
      <p:sp>
        <p:nvSpPr>
          <p:cNvPr id="21" name="Text 19"/>
          <p:cNvSpPr/>
          <p:nvPr/>
        </p:nvSpPr>
        <p:spPr>
          <a:xfrm>
            <a:off x="685800" y="4407408"/>
            <a:ext cx="3246120" cy="1234440"/>
          </a:xfrm>
          <a:prstGeom prst="rect">
            <a:avLst/>
          </a:prstGeom>
          <a:noFill/>
          <a:ln/>
        </p:spPr>
        <p:txBody>
          <a:bodyPr wrap="square" lIns="0" tIns="0" rIns="0" bIns="0" rtlCol="0" anchor="t"/>
          <a:lstStyle/>
          <a:p>
            <a:pPr indent="0" marL="0">
              <a:buNone/>
            </a:pPr>
            <a:r>
              <a:rPr lang="en-US" sz="1080" dirty="0">
                <a:solidFill>
                  <a:srgbClr val="30363D"/>
                </a:solidFill>
                <a:latin typeface="Calibri" pitchFamily="34" charset="0"/>
                <a:ea typeface="Calibri" pitchFamily="34" charset="-122"/>
                <a:cs typeface="Calibri" pitchFamily="34" charset="-120"/>
              </a:rPr>
              <a:t>A 5x5 score, a named owner, a rationale and a review date for every accepted risk.</a:t>
            </a:r>
            <a:endParaRPr lang="en-US" sz="1080" dirty="0"/>
          </a:p>
        </p:txBody>
      </p:sp>
      <p:sp>
        <p:nvSpPr>
          <p:cNvPr id="22" name="Shape 20"/>
          <p:cNvSpPr/>
          <p:nvPr/>
        </p:nvSpPr>
        <p:spPr>
          <a:xfrm>
            <a:off x="4325112" y="3749040"/>
            <a:ext cx="3611880" cy="2057400"/>
          </a:xfrm>
          <a:prstGeom prst="roundRect">
            <a:avLst>
              <a:gd name="adj" fmla="val 2444"/>
            </a:avLst>
          </a:prstGeom>
          <a:solidFill>
            <a:srgbClr val="FFFFFF"/>
          </a:solidFill>
          <a:ln w="12700">
            <a:solidFill>
              <a:srgbClr val="C9D2DD"/>
            </a:solidFill>
            <a:prstDash val="solid"/>
          </a:ln>
        </p:spPr>
      </p:sp>
      <p:sp>
        <p:nvSpPr>
          <p:cNvPr id="23" name="Shape 21"/>
          <p:cNvSpPr/>
          <p:nvPr/>
        </p:nvSpPr>
        <p:spPr>
          <a:xfrm>
            <a:off x="4325112" y="3749040"/>
            <a:ext cx="54864" cy="2057400"/>
          </a:xfrm>
          <a:prstGeom prst="rect">
            <a:avLst/>
          </a:prstGeom>
          <a:solidFill>
            <a:srgbClr val="1F3A5F"/>
          </a:solidFill>
          <a:ln/>
        </p:spPr>
      </p:sp>
      <p:sp>
        <p:nvSpPr>
          <p:cNvPr id="24" name="Text 22"/>
          <p:cNvSpPr/>
          <p:nvPr/>
        </p:nvSpPr>
        <p:spPr>
          <a:xfrm>
            <a:off x="4507992" y="3895344"/>
            <a:ext cx="3246120" cy="502920"/>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Three lines of defence</a:t>
            </a:r>
            <a:endParaRPr lang="en-US" sz="1350" dirty="0"/>
          </a:p>
        </p:txBody>
      </p:sp>
      <p:sp>
        <p:nvSpPr>
          <p:cNvPr id="25" name="Text 23"/>
          <p:cNvSpPr/>
          <p:nvPr/>
        </p:nvSpPr>
        <p:spPr>
          <a:xfrm>
            <a:off x="4507992" y="4407408"/>
            <a:ext cx="3246120" cy="1234440"/>
          </a:xfrm>
          <a:prstGeom prst="rect">
            <a:avLst/>
          </a:prstGeom>
          <a:noFill/>
          <a:ln/>
        </p:spPr>
        <p:txBody>
          <a:bodyPr wrap="square" lIns="0" tIns="0" rIns="0" bIns="0" rtlCol="0" anchor="t"/>
          <a:lstStyle/>
          <a:p>
            <a:pPr indent="0" marL="0">
              <a:buNone/>
            </a:pPr>
            <a:r>
              <a:rPr lang="en-US" sz="1080" dirty="0">
                <a:solidFill>
                  <a:srgbClr val="30363D"/>
                </a:solidFill>
                <a:latin typeface="Calibri" pitchFamily="34" charset="0"/>
                <a:ea typeface="Calibri" pitchFamily="34" charset="-122"/>
                <a:cs typeface="Calibri" pitchFamily="34" charset="-120"/>
              </a:rPr>
              <a:t>First line owns risk, second line owns the framework and assurance, third line audits independently.</a:t>
            </a:r>
            <a:endParaRPr lang="en-US" sz="1080" dirty="0"/>
          </a:p>
        </p:txBody>
      </p:sp>
      <p:sp>
        <p:nvSpPr>
          <p:cNvPr id="26" name="Shape 24"/>
          <p:cNvSpPr/>
          <p:nvPr/>
        </p:nvSpPr>
        <p:spPr>
          <a:xfrm>
            <a:off x="8147304" y="3749040"/>
            <a:ext cx="3611880" cy="2057400"/>
          </a:xfrm>
          <a:prstGeom prst="roundRect">
            <a:avLst>
              <a:gd name="adj" fmla="val 2444"/>
            </a:avLst>
          </a:prstGeom>
          <a:solidFill>
            <a:srgbClr val="FFFFFF"/>
          </a:solidFill>
          <a:ln w="12700">
            <a:solidFill>
              <a:srgbClr val="C9D2DD"/>
            </a:solidFill>
            <a:prstDash val="solid"/>
          </a:ln>
        </p:spPr>
      </p:sp>
      <p:sp>
        <p:nvSpPr>
          <p:cNvPr id="27" name="Shape 25"/>
          <p:cNvSpPr/>
          <p:nvPr/>
        </p:nvSpPr>
        <p:spPr>
          <a:xfrm>
            <a:off x="8147304" y="3749040"/>
            <a:ext cx="54864" cy="2057400"/>
          </a:xfrm>
          <a:prstGeom prst="rect">
            <a:avLst/>
          </a:prstGeom>
          <a:solidFill>
            <a:srgbClr val="1F3A5F"/>
          </a:solidFill>
          <a:ln/>
        </p:spPr>
      </p:sp>
      <p:sp>
        <p:nvSpPr>
          <p:cNvPr id="28" name="Text 26"/>
          <p:cNvSpPr/>
          <p:nvPr/>
        </p:nvSpPr>
        <p:spPr>
          <a:xfrm>
            <a:off x="8330184" y="3895344"/>
            <a:ext cx="3246120" cy="502920"/>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InfoSec by exception</a:t>
            </a:r>
            <a:endParaRPr lang="en-US" sz="1350" dirty="0"/>
          </a:p>
        </p:txBody>
      </p:sp>
      <p:sp>
        <p:nvSpPr>
          <p:cNvPr id="29" name="Text 27"/>
          <p:cNvSpPr/>
          <p:nvPr/>
        </p:nvSpPr>
        <p:spPr>
          <a:xfrm>
            <a:off x="8330184" y="4407408"/>
            <a:ext cx="3246120" cy="1234440"/>
          </a:xfrm>
          <a:prstGeom prst="rect">
            <a:avLst/>
          </a:prstGeom>
          <a:noFill/>
          <a:ln/>
        </p:spPr>
        <p:txBody>
          <a:bodyPr wrap="square" lIns="0" tIns="0" rIns="0" bIns="0" rtlCol="0" anchor="t"/>
          <a:lstStyle/>
          <a:p>
            <a:pPr indent="0" marL="0">
              <a:buNone/>
            </a:pPr>
            <a:r>
              <a:rPr lang="en-US" sz="1080" dirty="0">
                <a:solidFill>
                  <a:srgbClr val="30363D"/>
                </a:solidFill>
                <a:latin typeface="Calibri" pitchFamily="34" charset="0"/>
                <a:ea typeface="Calibri" pitchFamily="34" charset="-122"/>
                <a:cs typeface="Calibri" pitchFamily="34" charset="-120"/>
              </a:rPr>
              <a:t>The high-risk minority routes to InfoSec; the majority self-clears and is sampled.</a:t>
            </a:r>
            <a:endParaRPr lang="en-US" sz="1080" dirty="0"/>
          </a:p>
        </p:txBody>
      </p:sp>
      <p:sp>
        <p:nvSpPr>
          <p:cNvPr id="30" name="Text 28"/>
          <p:cNvSpPr/>
          <p:nvPr/>
        </p:nvSpPr>
        <p:spPr>
          <a:xfrm>
            <a:off x="502920" y="6126480"/>
            <a:ext cx="11155680" cy="32004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Everything on this slide survives from the first draft to the current model unchanged in substance.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92608"/>
            <a:ext cx="10607040" cy="566928"/>
          </a:xfrm>
          <a:prstGeom prst="rect">
            <a:avLst/>
          </a:prstGeom>
          <a:noFill/>
          <a:ln/>
        </p:spPr>
        <p:txBody>
          <a:bodyPr wrap="square" lIns="0" tIns="0" rIns="0" bIns="0" rtlCol="0" anchor="ctr"/>
          <a:lstStyle/>
          <a:p>
            <a:pPr indent="0" marL="0">
              <a:buNone/>
            </a:pPr>
            <a:r>
              <a:rPr lang="en-US" sz="2600" b="1" dirty="0">
                <a:solidFill>
                  <a:srgbClr val="1F3A5F"/>
                </a:solidFill>
                <a:latin typeface="Calibri" pitchFamily="34" charset="0"/>
                <a:ea typeface="Calibri" pitchFamily="34" charset="-122"/>
                <a:cs typeface="Calibri" pitchFamily="34" charset="-120"/>
              </a:rPr>
              <a:t>Defining good: three attempts, one lesson</a:t>
            </a:r>
            <a:endParaRPr lang="en-US" sz="2600" dirty="0"/>
          </a:p>
        </p:txBody>
      </p:sp>
      <p:sp>
        <p:nvSpPr>
          <p:cNvPr id="3" name="Text 1"/>
          <p:cNvSpPr/>
          <p:nvPr/>
        </p:nvSpPr>
        <p:spPr>
          <a:xfrm>
            <a:off x="521208" y="859536"/>
            <a:ext cx="10607040" cy="274320"/>
          </a:xfrm>
          <a:prstGeom prst="rect">
            <a:avLst/>
          </a:prstGeom>
          <a:noFill/>
          <a:ln/>
        </p:spPr>
        <p:txBody>
          <a:bodyPr wrap="square" lIns="0" tIns="0" rIns="0" bIns="0" rtlCol="0" anchor="ctr"/>
          <a:lstStyle/>
          <a:p>
            <a:pPr indent="0" marL="0">
              <a:buNone/>
            </a:pPr>
            <a:r>
              <a:rPr lang="en-US" sz="1050" b="1" spc="300" kern="0" dirty="0">
                <a:solidFill>
                  <a:srgbClr val="2A9D8C"/>
                </a:solidFill>
                <a:latin typeface="Calibri" pitchFamily="34" charset="0"/>
                <a:ea typeface="Calibri" pitchFamily="34" charset="-122"/>
                <a:cs typeface="Calibri" pitchFamily="34" charset="-120"/>
              </a:rPr>
              <a:t>PAVED ROADS, THEN GUARDRAILS, THEN STANDARDS</a:t>
            </a:r>
            <a:endParaRPr lang="en-US" sz="1050" dirty="0"/>
          </a:p>
        </p:txBody>
      </p:sp>
      <p:sp>
        <p:nvSpPr>
          <p:cNvPr id="4" name="Text 2"/>
          <p:cNvSpPr/>
          <p:nvPr/>
        </p:nvSpPr>
        <p:spPr>
          <a:xfrm>
            <a:off x="502920" y="6473952"/>
            <a:ext cx="8686800" cy="274320"/>
          </a:xfrm>
          <a:prstGeom prst="rect">
            <a:avLst/>
          </a:prstGeom>
          <a:noFill/>
          <a:ln/>
        </p:spPr>
        <p:txBody>
          <a:bodyPr wrap="square" lIns="0" tIns="0" rIns="0" bIns="0" rtlCol="0" anchor="ctr"/>
          <a:lstStyle/>
          <a:p>
            <a:pPr indent="0" marL="0">
              <a:buNone/>
            </a:pPr>
            <a:r>
              <a:rPr lang="en-US" sz="850" dirty="0">
                <a:solidFill>
                  <a:srgbClr val="6E7B8A"/>
                </a:solidFill>
                <a:latin typeface="Calibri" pitchFamily="34" charset="0"/>
                <a:ea typeface="Calibri" pitchFamily="34" charset="-122"/>
                <a:cs typeface="Calibri" pitchFamily="34" charset="-120"/>
              </a:rPr>
              <a:t>PAVE  ·  Security Engagement Operating Model  ·  How the model evolved</a:t>
            </a:r>
            <a:endParaRPr lang="en-US" sz="850" dirty="0"/>
          </a:p>
        </p:txBody>
      </p:sp>
      <p:sp>
        <p:nvSpPr>
          <p:cNvPr id="5" name="Text 3"/>
          <p:cNvSpPr/>
          <p:nvPr/>
        </p:nvSpPr>
        <p:spPr>
          <a:xfrm>
            <a:off x="11475720" y="6473952"/>
            <a:ext cx="457200" cy="274320"/>
          </a:xfrm>
          <a:prstGeom prst="rect">
            <a:avLst/>
          </a:prstGeom>
          <a:noFill/>
          <a:ln/>
        </p:spPr>
        <p:txBody>
          <a:bodyPr wrap="square" lIns="0" tIns="0" rIns="0" bIns="0" rtlCol="0" anchor="ctr"/>
          <a:lstStyle/>
          <a:p>
            <a:pPr algn="r" indent="0" marL="0">
              <a:buNone/>
            </a:pPr>
            <a:r>
              <a:rPr lang="en-US" sz="850" dirty="0">
                <a:solidFill>
                  <a:srgbClr val="6E7B8A"/>
                </a:solidFill>
                <a:latin typeface="Calibri" pitchFamily="34" charset="0"/>
                <a:ea typeface="Calibri" pitchFamily="34" charset="-122"/>
                <a:cs typeface="Calibri" pitchFamily="34" charset="-120"/>
              </a:rPr>
              <a:t>3</a:t>
            </a:r>
            <a:endParaRPr lang="en-US" sz="850" dirty="0"/>
          </a:p>
        </p:txBody>
      </p:sp>
      <p:sp>
        <p:nvSpPr>
          <p:cNvPr id="6" name="Shape 4"/>
          <p:cNvSpPr/>
          <p:nvPr/>
        </p:nvSpPr>
        <p:spPr>
          <a:xfrm>
            <a:off x="502920" y="1600200"/>
            <a:ext cx="3566160" cy="777240"/>
          </a:xfrm>
          <a:prstGeom prst="chevron">
            <a:avLst/>
          </a:prstGeom>
          <a:solidFill>
            <a:srgbClr val="557A95"/>
          </a:solidFill>
          <a:ln/>
        </p:spPr>
      </p:sp>
      <p:sp>
        <p:nvSpPr>
          <p:cNvPr id="7" name="Text 5"/>
          <p:cNvSpPr/>
          <p:nvPr/>
        </p:nvSpPr>
        <p:spPr>
          <a:xfrm>
            <a:off x="822960" y="1682496"/>
            <a:ext cx="301752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Paved roads</a:t>
            </a:r>
            <a:endParaRPr lang="en-US" sz="1500" dirty="0"/>
          </a:p>
        </p:txBody>
      </p:sp>
      <p:sp>
        <p:nvSpPr>
          <p:cNvPr id="8" name="Text 6"/>
          <p:cNvSpPr/>
          <p:nvPr/>
        </p:nvSpPr>
        <p:spPr>
          <a:xfrm>
            <a:off x="822960" y="2029968"/>
            <a:ext cx="3017520" cy="256032"/>
          </a:xfrm>
          <a:prstGeom prst="rect">
            <a:avLst/>
          </a:prstGeom>
          <a:noFill/>
          <a:ln/>
        </p:spPr>
        <p:txBody>
          <a:bodyPr wrap="square" lIns="0" tIns="0" rIns="0" bIns="0" rtlCol="0" anchor="ctr"/>
          <a:lstStyle/>
          <a:p>
            <a:pPr indent="0" marL="0">
              <a:buNone/>
            </a:pPr>
            <a:r>
              <a:rPr lang="en-US" sz="850" b="1" spc="200" kern="0" dirty="0">
                <a:solidFill>
                  <a:srgbClr val="E6EEF5"/>
                </a:solidFill>
                <a:latin typeface="Calibri" pitchFamily="34" charset="0"/>
                <a:ea typeface="Calibri" pitchFamily="34" charset="-122"/>
                <a:cs typeface="Calibri" pitchFamily="34" charset="-120"/>
              </a:rPr>
              <a:t>FIRST DRAFT</a:t>
            </a:r>
            <a:endParaRPr lang="en-US" sz="850" dirty="0"/>
          </a:p>
        </p:txBody>
      </p:sp>
      <p:sp>
        <p:nvSpPr>
          <p:cNvPr id="9" name="Shape 7"/>
          <p:cNvSpPr/>
          <p:nvPr/>
        </p:nvSpPr>
        <p:spPr>
          <a:xfrm>
            <a:off x="502920" y="2560320"/>
            <a:ext cx="3566160" cy="2240280"/>
          </a:xfrm>
          <a:prstGeom prst="roundRect">
            <a:avLst>
              <a:gd name="adj" fmla="val 2245"/>
            </a:avLst>
          </a:prstGeom>
          <a:solidFill>
            <a:srgbClr val="FFFFFF"/>
          </a:solidFill>
          <a:ln w="12700">
            <a:solidFill>
              <a:srgbClr val="C9D2DD"/>
            </a:solidFill>
            <a:prstDash val="solid"/>
          </a:ln>
        </p:spPr>
      </p:sp>
      <p:sp>
        <p:nvSpPr>
          <p:cNvPr id="10" name="Text 8"/>
          <p:cNvSpPr/>
          <p:nvPr/>
        </p:nvSpPr>
        <p:spPr>
          <a:xfrm>
            <a:off x="667512" y="2697480"/>
            <a:ext cx="3236976" cy="1965960"/>
          </a:xfrm>
          <a:prstGeom prst="rect">
            <a:avLst/>
          </a:prstGeom>
          <a:noFill/>
          <a:ln/>
        </p:spPr>
        <p:txBody>
          <a:bodyPr wrap="square" lIns="0" tIns="0" rIns="0" bIns="0" rtlCol="0" anchor="t"/>
          <a:lstStyle/>
          <a:p>
            <a:pPr indent="0" marL="0">
              <a:buNone/>
            </a:pPr>
            <a:r>
              <a:rPr lang="en-US" sz="1060" dirty="0">
                <a:solidFill>
                  <a:srgbClr val="30363D"/>
                </a:solidFill>
                <a:latin typeface="Calibri" pitchFamily="34" charset="0"/>
                <a:ea typeface="Calibri" pitchFamily="34" charset="-122"/>
                <a:cs typeface="Calibri" pitchFamily="34" charset="-120"/>
              </a:rPr>
              <a:t>Maintained, secure-by-default routes for the common cases. Retired: with the number of concurrently changing workstreams, the catalogue could not be built or kept current.</a:t>
            </a:r>
            <a:endParaRPr lang="en-US" sz="1060" dirty="0"/>
          </a:p>
        </p:txBody>
      </p:sp>
      <p:sp>
        <p:nvSpPr>
          <p:cNvPr id="11" name="Shape 9"/>
          <p:cNvSpPr/>
          <p:nvPr/>
        </p:nvSpPr>
        <p:spPr>
          <a:xfrm>
            <a:off x="4389120" y="1600200"/>
            <a:ext cx="3566160" cy="777240"/>
          </a:xfrm>
          <a:prstGeom prst="chevron">
            <a:avLst/>
          </a:prstGeom>
          <a:solidFill>
            <a:srgbClr val="2E75B6"/>
          </a:solidFill>
          <a:ln/>
        </p:spPr>
      </p:sp>
      <p:sp>
        <p:nvSpPr>
          <p:cNvPr id="12" name="Text 10"/>
          <p:cNvSpPr/>
          <p:nvPr/>
        </p:nvSpPr>
        <p:spPr>
          <a:xfrm>
            <a:off x="4709160" y="1682496"/>
            <a:ext cx="301752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Guardrails</a:t>
            </a:r>
            <a:endParaRPr lang="en-US" sz="1500" dirty="0"/>
          </a:p>
        </p:txBody>
      </p:sp>
      <p:sp>
        <p:nvSpPr>
          <p:cNvPr id="13" name="Text 11"/>
          <p:cNvSpPr/>
          <p:nvPr/>
        </p:nvSpPr>
        <p:spPr>
          <a:xfrm>
            <a:off x="4709160" y="2029968"/>
            <a:ext cx="3017520" cy="256032"/>
          </a:xfrm>
          <a:prstGeom prst="rect">
            <a:avLst/>
          </a:prstGeom>
          <a:noFill/>
          <a:ln/>
        </p:spPr>
        <p:txBody>
          <a:bodyPr wrap="square" lIns="0" tIns="0" rIns="0" bIns="0" rtlCol="0" anchor="ctr"/>
          <a:lstStyle/>
          <a:p>
            <a:pPr indent="0" marL="0">
              <a:buNone/>
            </a:pPr>
            <a:r>
              <a:rPr lang="en-US" sz="850" b="1" spc="200" kern="0" dirty="0">
                <a:solidFill>
                  <a:srgbClr val="E6EEF5"/>
                </a:solidFill>
                <a:latin typeface="Calibri" pitchFamily="34" charset="0"/>
                <a:ea typeface="Calibri" pitchFamily="34" charset="-122"/>
                <a:cs typeface="Calibri" pitchFamily="34" charset="-120"/>
              </a:rPr>
              <a:t>THE PIVOT</a:t>
            </a:r>
            <a:endParaRPr lang="en-US" sz="850" dirty="0"/>
          </a:p>
        </p:txBody>
      </p:sp>
      <p:sp>
        <p:nvSpPr>
          <p:cNvPr id="14" name="Shape 12"/>
          <p:cNvSpPr/>
          <p:nvPr/>
        </p:nvSpPr>
        <p:spPr>
          <a:xfrm>
            <a:off x="4389120" y="2560320"/>
            <a:ext cx="3566160" cy="2240280"/>
          </a:xfrm>
          <a:prstGeom prst="roundRect">
            <a:avLst>
              <a:gd name="adj" fmla="val 2245"/>
            </a:avLst>
          </a:prstGeom>
          <a:solidFill>
            <a:srgbClr val="FFFFFF"/>
          </a:solidFill>
          <a:ln w="12700">
            <a:solidFill>
              <a:srgbClr val="C9D2DD"/>
            </a:solidFill>
            <a:prstDash val="solid"/>
          </a:ln>
        </p:spPr>
      </p:sp>
      <p:sp>
        <p:nvSpPr>
          <p:cNvPr id="15" name="Text 13"/>
          <p:cNvSpPr/>
          <p:nvPr/>
        </p:nvSpPr>
        <p:spPr>
          <a:xfrm>
            <a:off x="4553712" y="2697480"/>
            <a:ext cx="3236976" cy="1965960"/>
          </a:xfrm>
          <a:prstGeom prst="rect">
            <a:avLst/>
          </a:prstGeom>
          <a:noFill/>
          <a:ln/>
        </p:spPr>
        <p:txBody>
          <a:bodyPr wrap="square" lIns="0" tIns="0" rIns="0" bIns="0" rtlCol="0" anchor="t"/>
          <a:lstStyle/>
          <a:p>
            <a:pPr indent="0" marL="0">
              <a:buNone/>
            </a:pPr>
            <a:r>
              <a:rPr lang="en-US" sz="1060" dirty="0">
                <a:solidFill>
                  <a:srgbClr val="30363D"/>
                </a:solidFill>
                <a:latin typeface="Calibri" pitchFamily="34" charset="0"/>
                <a:ea typeface="Calibri" pitchFamily="34" charset="-122"/>
                <a:cs typeface="Calibri" pitchFamily="34" charset="-120"/>
              </a:rPr>
              <a:t>Generic boundaries on the development space: block the insecure way instead of paving the secure one. Sound design, but building the catalogue needs Defensive Security capacity that is not committed.</a:t>
            </a:r>
            <a:endParaRPr lang="en-US" sz="1060" dirty="0"/>
          </a:p>
        </p:txBody>
      </p:sp>
      <p:sp>
        <p:nvSpPr>
          <p:cNvPr id="16" name="Shape 14"/>
          <p:cNvSpPr/>
          <p:nvPr/>
        </p:nvSpPr>
        <p:spPr>
          <a:xfrm>
            <a:off x="8275320" y="1600200"/>
            <a:ext cx="3566160" cy="777240"/>
          </a:xfrm>
          <a:prstGeom prst="chevron">
            <a:avLst/>
          </a:prstGeom>
          <a:solidFill>
            <a:srgbClr val="2A9D8C"/>
          </a:solidFill>
          <a:ln/>
        </p:spPr>
      </p:sp>
      <p:sp>
        <p:nvSpPr>
          <p:cNvPr id="17" name="Text 15"/>
          <p:cNvSpPr/>
          <p:nvPr/>
        </p:nvSpPr>
        <p:spPr>
          <a:xfrm>
            <a:off x="8595360" y="1682496"/>
            <a:ext cx="301752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Standards</a:t>
            </a:r>
            <a:endParaRPr lang="en-US" sz="1500" dirty="0"/>
          </a:p>
        </p:txBody>
      </p:sp>
      <p:sp>
        <p:nvSpPr>
          <p:cNvPr id="18" name="Text 16"/>
          <p:cNvSpPr/>
          <p:nvPr/>
        </p:nvSpPr>
        <p:spPr>
          <a:xfrm>
            <a:off x="8595360" y="2029968"/>
            <a:ext cx="3017520" cy="256032"/>
          </a:xfrm>
          <a:prstGeom prst="rect">
            <a:avLst/>
          </a:prstGeom>
          <a:noFill/>
          <a:ln/>
        </p:spPr>
        <p:txBody>
          <a:bodyPr wrap="square" lIns="0" tIns="0" rIns="0" bIns="0" rtlCol="0" anchor="ctr"/>
          <a:lstStyle/>
          <a:p>
            <a:pPr indent="0" marL="0">
              <a:buNone/>
            </a:pPr>
            <a:r>
              <a:rPr lang="en-US" sz="850" b="1" spc="200" kern="0" dirty="0">
                <a:solidFill>
                  <a:srgbClr val="E6EEF5"/>
                </a:solidFill>
                <a:latin typeface="Calibri" pitchFamily="34" charset="0"/>
                <a:ea typeface="Calibri" pitchFamily="34" charset="-122"/>
                <a:cs typeface="Calibri" pitchFamily="34" charset="-120"/>
              </a:rPr>
              <a:t>CURRENT MODEL</a:t>
            </a:r>
            <a:endParaRPr lang="en-US" sz="850" dirty="0"/>
          </a:p>
        </p:txBody>
      </p:sp>
      <p:sp>
        <p:nvSpPr>
          <p:cNvPr id="19" name="Shape 17"/>
          <p:cNvSpPr/>
          <p:nvPr/>
        </p:nvSpPr>
        <p:spPr>
          <a:xfrm>
            <a:off x="8275320" y="2560320"/>
            <a:ext cx="3566160" cy="2240280"/>
          </a:xfrm>
          <a:prstGeom prst="roundRect">
            <a:avLst>
              <a:gd name="adj" fmla="val 2245"/>
            </a:avLst>
          </a:prstGeom>
          <a:solidFill>
            <a:srgbClr val="FFFFFF"/>
          </a:solidFill>
          <a:ln w="12700">
            <a:solidFill>
              <a:srgbClr val="C9D2DD"/>
            </a:solidFill>
            <a:prstDash val="solid"/>
          </a:ln>
        </p:spPr>
      </p:sp>
      <p:sp>
        <p:nvSpPr>
          <p:cNvPr id="20" name="Text 18"/>
          <p:cNvSpPr/>
          <p:nvPr/>
        </p:nvSpPr>
        <p:spPr>
          <a:xfrm>
            <a:off x="8439912" y="2697480"/>
            <a:ext cx="3236976" cy="1965960"/>
          </a:xfrm>
          <a:prstGeom prst="rect">
            <a:avLst/>
          </a:prstGeom>
          <a:noFill/>
          <a:ln/>
        </p:spPr>
        <p:txBody>
          <a:bodyPr wrap="square" lIns="0" tIns="0" rIns="0" bIns="0" rtlCol="0" anchor="t"/>
          <a:lstStyle/>
          <a:p>
            <a:pPr indent="0" marL="0">
              <a:buNone/>
            </a:pPr>
            <a:r>
              <a:rPr lang="en-US" sz="1060" dirty="0">
                <a:solidFill>
                  <a:srgbClr val="30363D"/>
                </a:solidFill>
                <a:latin typeface="Calibri" pitchFamily="34" charset="0"/>
                <a:ea typeface="Calibri" pitchFamily="34" charset="-122"/>
                <a:cs typeface="Calibri" pitchFamily="34" charset="-120"/>
              </a:rPr>
              <a:t>The Standards Library and reference guidance define good and explain why; the triage confirms it and detection and sampling verify it. No build dependency, GRC-owned, works now.</a:t>
            </a:r>
            <a:endParaRPr lang="en-US" sz="1060" dirty="0"/>
          </a:p>
        </p:txBody>
      </p:sp>
      <p:sp>
        <p:nvSpPr>
          <p:cNvPr id="21" name="Shape 19"/>
          <p:cNvSpPr/>
          <p:nvPr/>
        </p:nvSpPr>
        <p:spPr>
          <a:xfrm>
            <a:off x="502920" y="5120640"/>
            <a:ext cx="11183112" cy="868680"/>
          </a:xfrm>
          <a:prstGeom prst="rect">
            <a:avLst/>
          </a:prstGeom>
          <a:solidFill>
            <a:srgbClr val="FCF6EC"/>
          </a:solidFill>
          <a:ln w="9525">
            <a:solidFill>
              <a:srgbClr val="E0A458"/>
            </a:solidFill>
            <a:prstDash val="solid"/>
          </a:ln>
        </p:spPr>
      </p:sp>
      <p:sp>
        <p:nvSpPr>
          <p:cNvPr id="22" name="Shape 20"/>
          <p:cNvSpPr/>
          <p:nvPr/>
        </p:nvSpPr>
        <p:spPr>
          <a:xfrm>
            <a:off x="502920" y="5120640"/>
            <a:ext cx="50292" cy="868680"/>
          </a:xfrm>
          <a:prstGeom prst="rect">
            <a:avLst/>
          </a:prstGeom>
          <a:solidFill>
            <a:srgbClr val="E0A458"/>
          </a:solidFill>
          <a:ln/>
        </p:spPr>
      </p:sp>
      <p:sp>
        <p:nvSpPr>
          <p:cNvPr id="23" name="Text 21"/>
          <p:cNvSpPr/>
          <p:nvPr/>
        </p:nvSpPr>
        <p:spPr>
          <a:xfrm>
            <a:off x="649224" y="5175504"/>
            <a:ext cx="10908792" cy="758952"/>
          </a:xfrm>
          <a:prstGeom prst="rect">
            <a:avLst/>
          </a:prstGeom>
          <a:noFill/>
          <a:ln/>
        </p:spPr>
        <p:txBody>
          <a:bodyPr wrap="square" lIns="0" tIns="0" rIns="0" bIns="0" rtlCol="0" anchor="ctr"/>
          <a:lstStyle/>
          <a:p>
            <a:pPr indent="0" marL="0">
              <a:buNone/>
            </a:pPr>
            <a:r>
              <a:rPr lang="en-US" sz="1050" b="1" dirty="0">
                <a:solidFill>
                  <a:srgbClr val="9A6A1E"/>
                </a:solidFill>
                <a:latin typeface="Calibri" pitchFamily="34" charset="0"/>
                <a:ea typeface="Calibri" pitchFamily="34" charset="-122"/>
                <a:cs typeface="Calibri" pitchFamily="34" charset="-120"/>
              </a:rPr>
              <a:t>Guardrails are deferred, not dead.  </a:t>
            </a:r>
            <a:pPr indent="0" marL="0">
              <a:buNone/>
            </a:pPr>
            <a:r>
              <a:rPr lang="en-US" sz="1050" dirty="0">
                <a:solidFill>
                  <a:srgbClr val="30363D"/>
                </a:solidFill>
                <a:latin typeface="Calibri" pitchFamily="34" charset="0"/>
                <a:ea typeface="Calibri" pitchFamily="34" charset="-122"/>
                <a:cs typeface="Calibri" pitchFamily="34" charset="-120"/>
              </a:rPr>
              <a:t>Enforceable guardrails (policy-as-code, pipeline blocks, detective alerting) remain a planned addition, introduced as appetite and capacity allow. They will layer onto the standards without changing the model.</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10607040" cy="566928"/>
          </a:xfrm>
          <a:prstGeom prst="rect">
            <a:avLst/>
          </a:prstGeom>
          <a:noFill/>
          <a:ln/>
        </p:spPr>
        <p:txBody>
          <a:bodyPr wrap="square" lIns="0" tIns="0" rIns="0" bIns="0" rtlCol="0" anchor="ctr"/>
          <a:lstStyle/>
          <a:p>
            <a:pPr indent="0" marL="0">
              <a:buNone/>
            </a:pPr>
            <a:r>
              <a:rPr lang="en-US" sz="2600" b="1" dirty="0">
                <a:solidFill>
                  <a:srgbClr val="1F3A5F"/>
                </a:solidFill>
                <a:latin typeface="Calibri" pitchFamily="34" charset="0"/>
                <a:ea typeface="Calibri" pitchFamily="34" charset="-122"/>
                <a:cs typeface="Calibri" pitchFamily="34" charset="-120"/>
              </a:rPr>
              <a:t>Earned autonomy: removed</a:t>
            </a:r>
            <a:endParaRPr lang="en-US" sz="2600" dirty="0"/>
          </a:p>
        </p:txBody>
      </p:sp>
      <p:sp>
        <p:nvSpPr>
          <p:cNvPr id="3" name="Text 1"/>
          <p:cNvSpPr/>
          <p:nvPr/>
        </p:nvSpPr>
        <p:spPr>
          <a:xfrm>
            <a:off x="521208" y="859536"/>
            <a:ext cx="10607040" cy="274320"/>
          </a:xfrm>
          <a:prstGeom prst="rect">
            <a:avLst/>
          </a:prstGeom>
          <a:noFill/>
          <a:ln/>
        </p:spPr>
        <p:txBody>
          <a:bodyPr wrap="square" lIns="0" tIns="0" rIns="0" bIns="0" rtlCol="0" anchor="ctr"/>
          <a:lstStyle/>
          <a:p>
            <a:pPr indent="0" marL="0">
              <a:buNone/>
            </a:pPr>
            <a:r>
              <a:rPr lang="en-US" sz="1050" b="1" spc="300" kern="0" dirty="0">
                <a:solidFill>
                  <a:srgbClr val="2A9D8C"/>
                </a:solidFill>
                <a:latin typeface="Calibri" pitchFamily="34" charset="0"/>
                <a:ea typeface="Calibri" pitchFamily="34" charset="-122"/>
                <a:cs typeface="Calibri" pitchFamily="34" charset="-120"/>
              </a:rPr>
              <a:t>SCRUTINY FOLLOWS THE WORK, NOT THE TEAM</a:t>
            </a:r>
            <a:endParaRPr lang="en-US" sz="1050" dirty="0"/>
          </a:p>
        </p:txBody>
      </p:sp>
      <p:sp>
        <p:nvSpPr>
          <p:cNvPr id="4" name="Text 2"/>
          <p:cNvSpPr/>
          <p:nvPr/>
        </p:nvSpPr>
        <p:spPr>
          <a:xfrm>
            <a:off x="502920" y="6473952"/>
            <a:ext cx="8686800" cy="274320"/>
          </a:xfrm>
          <a:prstGeom prst="rect">
            <a:avLst/>
          </a:prstGeom>
          <a:noFill/>
          <a:ln/>
        </p:spPr>
        <p:txBody>
          <a:bodyPr wrap="square" lIns="0" tIns="0" rIns="0" bIns="0" rtlCol="0" anchor="ctr"/>
          <a:lstStyle/>
          <a:p>
            <a:pPr indent="0" marL="0">
              <a:buNone/>
            </a:pPr>
            <a:r>
              <a:rPr lang="en-US" sz="850" dirty="0">
                <a:solidFill>
                  <a:srgbClr val="6E7B8A"/>
                </a:solidFill>
                <a:latin typeface="Calibri" pitchFamily="34" charset="0"/>
                <a:ea typeface="Calibri" pitchFamily="34" charset="-122"/>
                <a:cs typeface="Calibri" pitchFamily="34" charset="-120"/>
              </a:rPr>
              <a:t>PAVE  ·  Security Engagement Operating Model  ·  How the model evolved</a:t>
            </a:r>
            <a:endParaRPr lang="en-US" sz="850" dirty="0"/>
          </a:p>
        </p:txBody>
      </p:sp>
      <p:sp>
        <p:nvSpPr>
          <p:cNvPr id="5" name="Text 3"/>
          <p:cNvSpPr/>
          <p:nvPr/>
        </p:nvSpPr>
        <p:spPr>
          <a:xfrm>
            <a:off x="11475720" y="6473952"/>
            <a:ext cx="457200" cy="274320"/>
          </a:xfrm>
          <a:prstGeom prst="rect">
            <a:avLst/>
          </a:prstGeom>
          <a:noFill/>
          <a:ln/>
        </p:spPr>
        <p:txBody>
          <a:bodyPr wrap="square" lIns="0" tIns="0" rIns="0" bIns="0" rtlCol="0" anchor="ctr"/>
          <a:lstStyle/>
          <a:p>
            <a:pPr algn="r" indent="0" marL="0">
              <a:buNone/>
            </a:pPr>
            <a:r>
              <a:rPr lang="en-US" sz="850" dirty="0">
                <a:solidFill>
                  <a:srgbClr val="6E7B8A"/>
                </a:solidFill>
                <a:latin typeface="Calibri" pitchFamily="34" charset="0"/>
                <a:ea typeface="Calibri" pitchFamily="34" charset="-122"/>
                <a:cs typeface="Calibri" pitchFamily="34" charset="-120"/>
              </a:rPr>
              <a:t>4</a:t>
            </a:r>
            <a:endParaRPr lang="en-US" sz="850" dirty="0"/>
          </a:p>
        </p:txBody>
      </p:sp>
      <p:sp>
        <p:nvSpPr>
          <p:cNvPr id="6" name="Shape 4"/>
          <p:cNvSpPr/>
          <p:nvPr/>
        </p:nvSpPr>
        <p:spPr>
          <a:xfrm>
            <a:off x="502920" y="1600200"/>
            <a:ext cx="5074920" cy="1554480"/>
          </a:xfrm>
          <a:prstGeom prst="roundRect">
            <a:avLst>
              <a:gd name="adj" fmla="val 3235"/>
            </a:avLst>
          </a:prstGeom>
          <a:solidFill>
            <a:srgbClr val="F5F7FA"/>
          </a:solidFill>
          <a:ln w="12700">
            <a:solidFill>
              <a:srgbClr val="C9D2DD"/>
            </a:solidFill>
            <a:prstDash val="solid"/>
          </a:ln>
        </p:spPr>
      </p:sp>
      <p:sp>
        <p:nvSpPr>
          <p:cNvPr id="7" name="Text 5"/>
          <p:cNvSpPr/>
          <p:nvPr/>
        </p:nvSpPr>
        <p:spPr>
          <a:xfrm>
            <a:off x="685800" y="1709928"/>
            <a:ext cx="1828800" cy="237744"/>
          </a:xfrm>
          <a:prstGeom prst="rect">
            <a:avLst/>
          </a:prstGeom>
          <a:noFill/>
          <a:ln/>
        </p:spPr>
        <p:txBody>
          <a:bodyPr wrap="square" lIns="0" tIns="0" rIns="0" bIns="0" rtlCol="0" anchor="ctr"/>
          <a:lstStyle/>
          <a:p>
            <a:pPr indent="0" marL="0">
              <a:buNone/>
            </a:pPr>
            <a:r>
              <a:rPr lang="en-US" sz="950" b="1" spc="200" kern="0" dirty="0">
                <a:solidFill>
                  <a:srgbClr val="557A95"/>
                </a:solidFill>
                <a:latin typeface="Calibri" pitchFamily="34" charset="0"/>
                <a:ea typeface="Calibri" pitchFamily="34" charset="-122"/>
                <a:cs typeface="Calibri" pitchFamily="34" charset="-120"/>
              </a:rPr>
              <a:t>THEN</a:t>
            </a:r>
            <a:endParaRPr lang="en-US" sz="950" dirty="0"/>
          </a:p>
        </p:txBody>
      </p:sp>
      <p:sp>
        <p:nvSpPr>
          <p:cNvPr id="8" name="Text 6"/>
          <p:cNvSpPr/>
          <p:nvPr/>
        </p:nvSpPr>
        <p:spPr>
          <a:xfrm>
            <a:off x="685800" y="1965960"/>
            <a:ext cx="4709160" cy="1078992"/>
          </a:xfrm>
          <a:prstGeom prst="rect">
            <a:avLst/>
          </a:prstGeom>
          <a:noFill/>
          <a:ln/>
        </p:spPr>
        <p:txBody>
          <a:bodyPr wrap="square" lIns="0" tIns="0" rIns="0" bIns="0" rtlCol="0" anchor="t"/>
          <a:lstStyle/>
          <a:p>
            <a:pPr indent="0" marL="0">
              <a:buNone/>
            </a:pPr>
            <a:r>
              <a:rPr lang="en-US" sz="1150" dirty="0">
                <a:solidFill>
                  <a:srgbClr val="30363D"/>
                </a:solidFill>
                <a:latin typeface="Calibri" pitchFamily="34" charset="0"/>
                <a:ea typeface="Calibri" pitchFamily="34" charset="-122"/>
                <a:cs typeface="Calibri" pitchFamily="34" charset="-120"/>
              </a:rPr>
              <a:t>A per-team maturity model: teams earned lighter scrutiny over time, with computed levels, promotion gates and mechanical demotion.</a:t>
            </a:r>
            <a:endParaRPr lang="en-US" sz="1150" dirty="0"/>
          </a:p>
        </p:txBody>
      </p:sp>
      <p:sp>
        <p:nvSpPr>
          <p:cNvPr id="9" name="Shape 7"/>
          <p:cNvSpPr/>
          <p:nvPr/>
        </p:nvSpPr>
        <p:spPr>
          <a:xfrm>
            <a:off x="5742432" y="2203704"/>
            <a:ext cx="566928" cy="347472"/>
          </a:xfrm>
          <a:prstGeom prst="rightArrow">
            <a:avLst/>
          </a:prstGeom>
          <a:solidFill>
            <a:srgbClr val="1F3A5F"/>
          </a:solidFill>
          <a:ln/>
        </p:spPr>
      </p:sp>
      <p:sp>
        <p:nvSpPr>
          <p:cNvPr id="10" name="Shape 8"/>
          <p:cNvSpPr/>
          <p:nvPr/>
        </p:nvSpPr>
        <p:spPr>
          <a:xfrm>
            <a:off x="6473952" y="1600200"/>
            <a:ext cx="5074920" cy="1554480"/>
          </a:xfrm>
          <a:prstGeom prst="roundRect">
            <a:avLst>
              <a:gd name="adj" fmla="val 3235"/>
            </a:avLst>
          </a:prstGeom>
          <a:solidFill>
            <a:srgbClr val="FFFFFF"/>
          </a:solidFill>
          <a:ln w="12700">
            <a:solidFill>
              <a:srgbClr val="C9D2DD"/>
            </a:solidFill>
            <a:prstDash val="solid"/>
          </a:ln>
        </p:spPr>
      </p:sp>
      <p:sp>
        <p:nvSpPr>
          <p:cNvPr id="11" name="Shape 9"/>
          <p:cNvSpPr/>
          <p:nvPr/>
        </p:nvSpPr>
        <p:spPr>
          <a:xfrm>
            <a:off x="6473952" y="1600200"/>
            <a:ext cx="54864" cy="1554480"/>
          </a:xfrm>
          <a:prstGeom prst="rect">
            <a:avLst/>
          </a:prstGeom>
          <a:solidFill>
            <a:srgbClr val="2A9D8C"/>
          </a:solidFill>
          <a:ln/>
        </p:spPr>
      </p:sp>
      <p:sp>
        <p:nvSpPr>
          <p:cNvPr id="12" name="Text 10"/>
          <p:cNvSpPr/>
          <p:nvPr/>
        </p:nvSpPr>
        <p:spPr>
          <a:xfrm>
            <a:off x="6675120" y="1709928"/>
            <a:ext cx="1828800" cy="237744"/>
          </a:xfrm>
          <a:prstGeom prst="rect">
            <a:avLst/>
          </a:prstGeom>
          <a:noFill/>
          <a:ln/>
        </p:spPr>
        <p:txBody>
          <a:bodyPr wrap="square" lIns="0" tIns="0" rIns="0" bIns="0" rtlCol="0" anchor="ctr"/>
          <a:lstStyle/>
          <a:p>
            <a:pPr indent="0" marL="0">
              <a:buNone/>
            </a:pPr>
            <a:r>
              <a:rPr lang="en-US" sz="950" b="1" spc="200" kern="0" dirty="0">
                <a:solidFill>
                  <a:srgbClr val="2A9D8C"/>
                </a:solidFill>
                <a:latin typeface="Calibri" pitchFamily="34" charset="0"/>
                <a:ea typeface="Calibri" pitchFamily="34" charset="-122"/>
                <a:cs typeface="Calibri" pitchFamily="34" charset="-120"/>
              </a:rPr>
              <a:t>NOW</a:t>
            </a:r>
            <a:endParaRPr lang="en-US" sz="950" dirty="0"/>
          </a:p>
        </p:txBody>
      </p:sp>
      <p:sp>
        <p:nvSpPr>
          <p:cNvPr id="13" name="Text 11"/>
          <p:cNvSpPr/>
          <p:nvPr/>
        </p:nvSpPr>
        <p:spPr>
          <a:xfrm>
            <a:off x="6675120" y="1965960"/>
            <a:ext cx="4690872" cy="1078992"/>
          </a:xfrm>
          <a:prstGeom prst="rect">
            <a:avLst/>
          </a:prstGeom>
          <a:noFill/>
          <a:ln/>
        </p:spPr>
        <p:txBody>
          <a:bodyPr wrap="square" lIns="0" tIns="0" rIns="0" bIns="0" rtlCol="0" anchor="t"/>
          <a:lstStyle/>
          <a:p>
            <a:pPr indent="0" marL="0">
              <a:buNone/>
            </a:pPr>
            <a:r>
              <a:rPr lang="en-US" sz="1150" dirty="0">
                <a:solidFill>
                  <a:srgbClr val="30363D"/>
                </a:solidFill>
                <a:latin typeface="Calibri" pitchFamily="34" charset="0"/>
                <a:ea typeface="Calibri" pitchFamily="34" charset="-122"/>
                <a:cs typeface="Calibri" pitchFamily="34" charset="-120"/>
              </a:rPr>
              <a:t>Flat self-service. Uniform rules for every team; no levels, no stored status, nothing per-team to maintain.</a:t>
            </a:r>
            <a:endParaRPr lang="en-US" sz="1150" dirty="0"/>
          </a:p>
        </p:txBody>
      </p:sp>
      <p:sp>
        <p:nvSpPr>
          <p:cNvPr id="14" name="Shape 12"/>
          <p:cNvSpPr/>
          <p:nvPr/>
        </p:nvSpPr>
        <p:spPr>
          <a:xfrm>
            <a:off x="502920" y="3429000"/>
            <a:ext cx="5074920" cy="1554480"/>
          </a:xfrm>
          <a:prstGeom prst="roundRect">
            <a:avLst>
              <a:gd name="adj" fmla="val 3235"/>
            </a:avLst>
          </a:prstGeom>
          <a:solidFill>
            <a:srgbClr val="F5F7FA"/>
          </a:solidFill>
          <a:ln w="12700">
            <a:solidFill>
              <a:srgbClr val="C9D2DD"/>
            </a:solidFill>
            <a:prstDash val="solid"/>
          </a:ln>
        </p:spPr>
      </p:sp>
      <p:sp>
        <p:nvSpPr>
          <p:cNvPr id="15" name="Text 13"/>
          <p:cNvSpPr/>
          <p:nvPr/>
        </p:nvSpPr>
        <p:spPr>
          <a:xfrm>
            <a:off x="685800" y="3538728"/>
            <a:ext cx="1828800" cy="237744"/>
          </a:xfrm>
          <a:prstGeom prst="rect">
            <a:avLst/>
          </a:prstGeom>
          <a:noFill/>
          <a:ln/>
        </p:spPr>
        <p:txBody>
          <a:bodyPr wrap="square" lIns="0" tIns="0" rIns="0" bIns="0" rtlCol="0" anchor="ctr"/>
          <a:lstStyle/>
          <a:p>
            <a:pPr indent="0" marL="0">
              <a:buNone/>
            </a:pPr>
            <a:r>
              <a:rPr lang="en-US" sz="950" b="1" spc="200" kern="0" dirty="0">
                <a:solidFill>
                  <a:srgbClr val="557A95"/>
                </a:solidFill>
                <a:latin typeface="Calibri" pitchFamily="34" charset="0"/>
                <a:ea typeface="Calibri" pitchFamily="34" charset="-122"/>
                <a:cs typeface="Calibri" pitchFamily="34" charset="-120"/>
              </a:rPr>
              <a:t>THEN</a:t>
            </a:r>
            <a:endParaRPr lang="en-US" sz="950" dirty="0"/>
          </a:p>
        </p:txBody>
      </p:sp>
      <p:sp>
        <p:nvSpPr>
          <p:cNvPr id="16" name="Text 14"/>
          <p:cNvSpPr/>
          <p:nvPr/>
        </p:nvSpPr>
        <p:spPr>
          <a:xfrm>
            <a:off x="685800" y="3794760"/>
            <a:ext cx="4709160" cy="1078992"/>
          </a:xfrm>
          <a:prstGeom prst="rect">
            <a:avLst/>
          </a:prstGeom>
          <a:noFill/>
          <a:ln/>
        </p:spPr>
        <p:txBody>
          <a:bodyPr wrap="square" lIns="0" tIns="0" rIns="0" bIns="0" rtlCol="0" anchor="t"/>
          <a:lstStyle/>
          <a:p>
            <a:pPr indent="0" marL="0">
              <a:buNone/>
            </a:pPr>
            <a:r>
              <a:rPr lang="en-US" sz="1150" dirty="0">
                <a:solidFill>
                  <a:srgbClr val="30363D"/>
                </a:solidFill>
                <a:latin typeface="Calibri" pitchFamily="34" charset="0"/>
                <a:ea typeface="Calibri" pitchFamily="34" charset="-122"/>
                <a:cs typeface="Calibri" pitchFamily="34" charset="-120"/>
              </a:rPr>
              <a:t>Scrutiny depended on who was doing the work: a mature team saw less of it, a new team more.</a:t>
            </a:r>
            <a:endParaRPr lang="en-US" sz="1150" dirty="0"/>
          </a:p>
        </p:txBody>
      </p:sp>
      <p:sp>
        <p:nvSpPr>
          <p:cNvPr id="17" name="Shape 15"/>
          <p:cNvSpPr/>
          <p:nvPr/>
        </p:nvSpPr>
        <p:spPr>
          <a:xfrm>
            <a:off x="5742432" y="4032504"/>
            <a:ext cx="566928" cy="347472"/>
          </a:xfrm>
          <a:prstGeom prst="rightArrow">
            <a:avLst/>
          </a:prstGeom>
          <a:solidFill>
            <a:srgbClr val="1F3A5F"/>
          </a:solidFill>
          <a:ln/>
        </p:spPr>
      </p:sp>
      <p:sp>
        <p:nvSpPr>
          <p:cNvPr id="18" name="Shape 16"/>
          <p:cNvSpPr/>
          <p:nvPr/>
        </p:nvSpPr>
        <p:spPr>
          <a:xfrm>
            <a:off x="6473952" y="3429000"/>
            <a:ext cx="5074920" cy="1554480"/>
          </a:xfrm>
          <a:prstGeom prst="roundRect">
            <a:avLst>
              <a:gd name="adj" fmla="val 3235"/>
            </a:avLst>
          </a:prstGeom>
          <a:solidFill>
            <a:srgbClr val="FFFFFF"/>
          </a:solidFill>
          <a:ln w="12700">
            <a:solidFill>
              <a:srgbClr val="C9D2DD"/>
            </a:solidFill>
            <a:prstDash val="solid"/>
          </a:ln>
        </p:spPr>
      </p:sp>
      <p:sp>
        <p:nvSpPr>
          <p:cNvPr id="19" name="Shape 17"/>
          <p:cNvSpPr/>
          <p:nvPr/>
        </p:nvSpPr>
        <p:spPr>
          <a:xfrm>
            <a:off x="6473952" y="3429000"/>
            <a:ext cx="54864" cy="1554480"/>
          </a:xfrm>
          <a:prstGeom prst="rect">
            <a:avLst/>
          </a:prstGeom>
          <a:solidFill>
            <a:srgbClr val="2A9D8C"/>
          </a:solidFill>
          <a:ln/>
        </p:spPr>
      </p:sp>
      <p:sp>
        <p:nvSpPr>
          <p:cNvPr id="20" name="Text 18"/>
          <p:cNvSpPr/>
          <p:nvPr/>
        </p:nvSpPr>
        <p:spPr>
          <a:xfrm>
            <a:off x="6675120" y="3538728"/>
            <a:ext cx="1828800" cy="237744"/>
          </a:xfrm>
          <a:prstGeom prst="rect">
            <a:avLst/>
          </a:prstGeom>
          <a:noFill/>
          <a:ln/>
        </p:spPr>
        <p:txBody>
          <a:bodyPr wrap="square" lIns="0" tIns="0" rIns="0" bIns="0" rtlCol="0" anchor="ctr"/>
          <a:lstStyle/>
          <a:p>
            <a:pPr indent="0" marL="0">
              <a:buNone/>
            </a:pPr>
            <a:r>
              <a:rPr lang="en-US" sz="950" b="1" spc="200" kern="0" dirty="0">
                <a:solidFill>
                  <a:srgbClr val="2A9D8C"/>
                </a:solidFill>
                <a:latin typeface="Calibri" pitchFamily="34" charset="0"/>
                <a:ea typeface="Calibri" pitchFamily="34" charset="-122"/>
                <a:cs typeface="Calibri" pitchFamily="34" charset="-120"/>
              </a:rPr>
              <a:t>NOW</a:t>
            </a:r>
            <a:endParaRPr lang="en-US" sz="950" dirty="0"/>
          </a:p>
        </p:txBody>
      </p:sp>
      <p:sp>
        <p:nvSpPr>
          <p:cNvPr id="21" name="Text 19"/>
          <p:cNvSpPr/>
          <p:nvPr/>
        </p:nvSpPr>
        <p:spPr>
          <a:xfrm>
            <a:off x="6675120" y="3794760"/>
            <a:ext cx="4690872" cy="1078992"/>
          </a:xfrm>
          <a:prstGeom prst="rect">
            <a:avLst/>
          </a:prstGeom>
          <a:noFill/>
          <a:ln/>
        </p:spPr>
        <p:txBody>
          <a:bodyPr wrap="square" lIns="0" tIns="0" rIns="0" bIns="0" rtlCol="0" anchor="t"/>
          <a:lstStyle/>
          <a:p>
            <a:pPr indent="0" marL="0">
              <a:buNone/>
            </a:pPr>
            <a:r>
              <a:rPr lang="en-US" sz="1150" dirty="0">
                <a:solidFill>
                  <a:srgbClr val="30363D"/>
                </a:solidFill>
                <a:latin typeface="Calibri" pitchFamily="34" charset="0"/>
                <a:ea typeface="Calibri" pitchFamily="34" charset="-122"/>
                <a:cs typeface="Calibri" pitchFamily="34" charset="-120"/>
              </a:rPr>
              <a:t>Scrutiny is driven by the work itself: the tier, plus the initiative rule for large or novel efforts.</a:t>
            </a:r>
            <a:endParaRPr lang="en-US" sz="1150" dirty="0"/>
          </a:p>
        </p:txBody>
      </p:sp>
      <p:sp>
        <p:nvSpPr>
          <p:cNvPr id="22" name="Shape 20"/>
          <p:cNvSpPr/>
          <p:nvPr/>
        </p:nvSpPr>
        <p:spPr>
          <a:xfrm>
            <a:off x="502920" y="5349240"/>
            <a:ext cx="11183112" cy="731520"/>
          </a:xfrm>
          <a:prstGeom prst="rect">
            <a:avLst/>
          </a:prstGeom>
          <a:solidFill>
            <a:srgbClr val="FCF6EC"/>
          </a:solidFill>
          <a:ln w="9525">
            <a:solidFill>
              <a:srgbClr val="E0A458"/>
            </a:solidFill>
            <a:prstDash val="solid"/>
          </a:ln>
        </p:spPr>
      </p:sp>
      <p:sp>
        <p:nvSpPr>
          <p:cNvPr id="23" name="Shape 21"/>
          <p:cNvSpPr/>
          <p:nvPr/>
        </p:nvSpPr>
        <p:spPr>
          <a:xfrm>
            <a:off x="502920" y="5349240"/>
            <a:ext cx="50292" cy="731520"/>
          </a:xfrm>
          <a:prstGeom prst="rect">
            <a:avLst/>
          </a:prstGeom>
          <a:solidFill>
            <a:srgbClr val="E0A458"/>
          </a:solidFill>
          <a:ln/>
        </p:spPr>
      </p:sp>
      <p:sp>
        <p:nvSpPr>
          <p:cNvPr id="24" name="Text 22"/>
          <p:cNvSpPr/>
          <p:nvPr/>
        </p:nvSpPr>
        <p:spPr>
          <a:xfrm>
            <a:off x="649224" y="5404104"/>
            <a:ext cx="10908792" cy="621792"/>
          </a:xfrm>
          <a:prstGeom prst="rect">
            <a:avLst/>
          </a:prstGeom>
          <a:noFill/>
          <a:ln/>
        </p:spPr>
        <p:txBody>
          <a:bodyPr wrap="square" lIns="0" tIns="0" rIns="0" bIns="0" rtlCol="0" anchor="ctr"/>
          <a:lstStyle/>
          <a:p>
            <a:pPr indent="0" marL="0">
              <a:buNone/>
            </a:pPr>
            <a:r>
              <a:rPr lang="en-US" sz="1050" b="1" dirty="0">
                <a:solidFill>
                  <a:srgbClr val="9A6A1E"/>
                </a:solidFill>
                <a:latin typeface="Calibri" pitchFamily="34" charset="0"/>
                <a:ea typeface="Calibri" pitchFamily="34" charset="-122"/>
                <a:cs typeface="Calibri" pitchFamily="34" charset="-120"/>
              </a:rPr>
              <a:t>Why.  </a:t>
            </a:r>
            <a:pPr indent="0" marL="0">
              <a:buNone/>
            </a:pPr>
            <a:r>
              <a:rPr lang="en-US" sz="1050" dirty="0">
                <a:solidFill>
                  <a:srgbClr val="30363D"/>
                </a:solidFill>
                <a:latin typeface="Calibri" pitchFamily="34" charset="0"/>
                <a:ea typeface="Calibri" pitchFamily="34" charset="-122"/>
                <a:cs typeface="Calibri" pitchFamily="34" charset="-120"/>
              </a:rPr>
              <a:t>With existing teams absorbing new hires and new workstreams, per-team status was unmaintainable and quickly wrong. The work is the reliable signal; the team label is not.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10607040" cy="566928"/>
          </a:xfrm>
          <a:prstGeom prst="rect">
            <a:avLst/>
          </a:prstGeom>
          <a:noFill/>
          <a:ln/>
        </p:spPr>
        <p:txBody>
          <a:bodyPr wrap="square" lIns="0" tIns="0" rIns="0" bIns="0" rtlCol="0" anchor="ctr"/>
          <a:lstStyle/>
          <a:p>
            <a:pPr indent="0" marL="0">
              <a:buNone/>
            </a:pPr>
            <a:r>
              <a:rPr lang="en-US" sz="2600" b="1" dirty="0">
                <a:solidFill>
                  <a:srgbClr val="1F3A5F"/>
                </a:solidFill>
                <a:latin typeface="Calibri" pitchFamily="34" charset="0"/>
                <a:ea typeface="Calibri" pitchFamily="34" charset="-122"/>
                <a:cs typeface="Calibri" pitchFamily="34" charset="-120"/>
              </a:rPr>
              <a:t>The triage grew up</a:t>
            </a:r>
            <a:endParaRPr lang="en-US" sz="2600" dirty="0"/>
          </a:p>
        </p:txBody>
      </p:sp>
      <p:sp>
        <p:nvSpPr>
          <p:cNvPr id="3" name="Text 1"/>
          <p:cNvSpPr/>
          <p:nvPr/>
        </p:nvSpPr>
        <p:spPr>
          <a:xfrm>
            <a:off x="521208" y="859536"/>
            <a:ext cx="10607040" cy="274320"/>
          </a:xfrm>
          <a:prstGeom prst="rect">
            <a:avLst/>
          </a:prstGeom>
          <a:noFill/>
          <a:ln/>
        </p:spPr>
        <p:txBody>
          <a:bodyPr wrap="square" lIns="0" tIns="0" rIns="0" bIns="0" rtlCol="0" anchor="ctr"/>
          <a:lstStyle/>
          <a:p>
            <a:pPr indent="0" marL="0">
              <a:buNone/>
            </a:pPr>
            <a:r>
              <a:rPr lang="en-US" sz="1050" b="1" spc="300" kern="0" dirty="0">
                <a:solidFill>
                  <a:srgbClr val="2A9D8C"/>
                </a:solidFill>
                <a:latin typeface="Calibri" pitchFamily="34" charset="0"/>
                <a:ea typeface="Calibri" pitchFamily="34" charset="-122"/>
                <a:cs typeface="Calibri" pitchFamily="34" charset="-120"/>
              </a:rPr>
              <a:t>FROM A SINGLE FORM TO CASCADING AND VERSIONED</a:t>
            </a:r>
            <a:endParaRPr lang="en-US" sz="1050" dirty="0"/>
          </a:p>
        </p:txBody>
      </p:sp>
      <p:sp>
        <p:nvSpPr>
          <p:cNvPr id="4" name="Text 2"/>
          <p:cNvSpPr/>
          <p:nvPr/>
        </p:nvSpPr>
        <p:spPr>
          <a:xfrm>
            <a:off x="502920" y="6473952"/>
            <a:ext cx="8686800" cy="274320"/>
          </a:xfrm>
          <a:prstGeom prst="rect">
            <a:avLst/>
          </a:prstGeom>
          <a:noFill/>
          <a:ln/>
        </p:spPr>
        <p:txBody>
          <a:bodyPr wrap="square" lIns="0" tIns="0" rIns="0" bIns="0" rtlCol="0" anchor="ctr"/>
          <a:lstStyle/>
          <a:p>
            <a:pPr indent="0" marL="0">
              <a:buNone/>
            </a:pPr>
            <a:r>
              <a:rPr lang="en-US" sz="850" dirty="0">
                <a:solidFill>
                  <a:srgbClr val="6E7B8A"/>
                </a:solidFill>
                <a:latin typeface="Calibri" pitchFamily="34" charset="0"/>
                <a:ea typeface="Calibri" pitchFamily="34" charset="-122"/>
                <a:cs typeface="Calibri" pitchFamily="34" charset="-120"/>
              </a:rPr>
              <a:t>PAVE  ·  Security Engagement Operating Model  ·  How the model evolved</a:t>
            </a:r>
            <a:endParaRPr lang="en-US" sz="850" dirty="0"/>
          </a:p>
        </p:txBody>
      </p:sp>
      <p:sp>
        <p:nvSpPr>
          <p:cNvPr id="5" name="Text 3"/>
          <p:cNvSpPr/>
          <p:nvPr/>
        </p:nvSpPr>
        <p:spPr>
          <a:xfrm>
            <a:off x="11475720" y="6473952"/>
            <a:ext cx="457200" cy="274320"/>
          </a:xfrm>
          <a:prstGeom prst="rect">
            <a:avLst/>
          </a:prstGeom>
          <a:noFill/>
          <a:ln/>
        </p:spPr>
        <p:txBody>
          <a:bodyPr wrap="square" lIns="0" tIns="0" rIns="0" bIns="0" rtlCol="0" anchor="ctr"/>
          <a:lstStyle/>
          <a:p>
            <a:pPr algn="r" indent="0" marL="0">
              <a:buNone/>
            </a:pPr>
            <a:r>
              <a:rPr lang="en-US" sz="850" dirty="0">
                <a:solidFill>
                  <a:srgbClr val="6E7B8A"/>
                </a:solidFill>
                <a:latin typeface="Calibri" pitchFamily="34" charset="0"/>
                <a:ea typeface="Calibri" pitchFamily="34" charset="-122"/>
                <a:cs typeface="Calibri" pitchFamily="34" charset="-120"/>
              </a:rPr>
              <a:t>5</a:t>
            </a:r>
            <a:endParaRPr lang="en-US" sz="850" dirty="0"/>
          </a:p>
        </p:txBody>
      </p:sp>
      <p:sp>
        <p:nvSpPr>
          <p:cNvPr id="6" name="Shape 4"/>
          <p:cNvSpPr/>
          <p:nvPr/>
        </p:nvSpPr>
        <p:spPr>
          <a:xfrm>
            <a:off x="502920" y="1600200"/>
            <a:ext cx="5074920" cy="1691640"/>
          </a:xfrm>
          <a:prstGeom prst="roundRect">
            <a:avLst>
              <a:gd name="adj" fmla="val 2973"/>
            </a:avLst>
          </a:prstGeom>
          <a:solidFill>
            <a:srgbClr val="F5F7FA"/>
          </a:solidFill>
          <a:ln w="12700">
            <a:solidFill>
              <a:srgbClr val="C9D2DD"/>
            </a:solidFill>
            <a:prstDash val="solid"/>
          </a:ln>
        </p:spPr>
      </p:sp>
      <p:sp>
        <p:nvSpPr>
          <p:cNvPr id="7" name="Text 5"/>
          <p:cNvSpPr/>
          <p:nvPr/>
        </p:nvSpPr>
        <p:spPr>
          <a:xfrm>
            <a:off x="685800" y="1709928"/>
            <a:ext cx="1828800" cy="237744"/>
          </a:xfrm>
          <a:prstGeom prst="rect">
            <a:avLst/>
          </a:prstGeom>
          <a:noFill/>
          <a:ln/>
        </p:spPr>
        <p:txBody>
          <a:bodyPr wrap="square" lIns="0" tIns="0" rIns="0" bIns="0" rtlCol="0" anchor="ctr"/>
          <a:lstStyle/>
          <a:p>
            <a:pPr indent="0" marL="0">
              <a:buNone/>
            </a:pPr>
            <a:r>
              <a:rPr lang="en-US" sz="950" b="1" spc="200" kern="0" dirty="0">
                <a:solidFill>
                  <a:srgbClr val="557A95"/>
                </a:solidFill>
                <a:latin typeface="Calibri" pitchFamily="34" charset="0"/>
                <a:ea typeface="Calibri" pitchFamily="34" charset="-122"/>
                <a:cs typeface="Calibri" pitchFamily="34" charset="-120"/>
              </a:rPr>
              <a:t>THEN</a:t>
            </a:r>
            <a:endParaRPr lang="en-US" sz="950" dirty="0"/>
          </a:p>
        </p:txBody>
      </p:sp>
      <p:sp>
        <p:nvSpPr>
          <p:cNvPr id="8" name="Text 6"/>
          <p:cNvSpPr/>
          <p:nvPr/>
        </p:nvSpPr>
        <p:spPr>
          <a:xfrm>
            <a:off x="685800" y="1965960"/>
            <a:ext cx="4709160" cy="1216152"/>
          </a:xfrm>
          <a:prstGeom prst="rect">
            <a:avLst/>
          </a:prstGeom>
          <a:noFill/>
          <a:ln/>
        </p:spPr>
        <p:txBody>
          <a:bodyPr wrap="square" lIns="0" tIns="0" rIns="0" bIns="0" rtlCol="0" anchor="t"/>
          <a:lstStyle/>
          <a:p>
            <a:pPr indent="0" marL="0">
              <a:buNone/>
            </a:pPr>
            <a:r>
              <a:rPr lang="en-US" sz="1150" dirty="0">
                <a:solidFill>
                  <a:srgbClr val="30363D"/>
                </a:solidFill>
                <a:latin typeface="Calibri" pitchFamily="34" charset="0"/>
                <a:ea typeface="Calibri" pitchFamily="34" charset="-122"/>
                <a:cs typeface="Calibri" pitchFamily="34" charset="-120"/>
              </a:rPr>
              <a:t>One triage per piece of work, completed once. Nothing above it for large efforts; nothing held it current as scope moved.</a:t>
            </a:r>
            <a:endParaRPr lang="en-US" sz="1150" dirty="0"/>
          </a:p>
        </p:txBody>
      </p:sp>
      <p:sp>
        <p:nvSpPr>
          <p:cNvPr id="9" name="Shape 7"/>
          <p:cNvSpPr/>
          <p:nvPr/>
        </p:nvSpPr>
        <p:spPr>
          <a:xfrm>
            <a:off x="5742432" y="2272284"/>
            <a:ext cx="566928" cy="347472"/>
          </a:xfrm>
          <a:prstGeom prst="rightArrow">
            <a:avLst/>
          </a:prstGeom>
          <a:solidFill>
            <a:srgbClr val="1F3A5F"/>
          </a:solidFill>
          <a:ln/>
        </p:spPr>
      </p:sp>
      <p:sp>
        <p:nvSpPr>
          <p:cNvPr id="10" name="Shape 8"/>
          <p:cNvSpPr/>
          <p:nvPr/>
        </p:nvSpPr>
        <p:spPr>
          <a:xfrm>
            <a:off x="6473952" y="1600200"/>
            <a:ext cx="5074920" cy="1691640"/>
          </a:xfrm>
          <a:prstGeom prst="roundRect">
            <a:avLst>
              <a:gd name="adj" fmla="val 2973"/>
            </a:avLst>
          </a:prstGeom>
          <a:solidFill>
            <a:srgbClr val="FFFFFF"/>
          </a:solidFill>
          <a:ln w="12700">
            <a:solidFill>
              <a:srgbClr val="C9D2DD"/>
            </a:solidFill>
            <a:prstDash val="solid"/>
          </a:ln>
        </p:spPr>
      </p:sp>
      <p:sp>
        <p:nvSpPr>
          <p:cNvPr id="11" name="Shape 9"/>
          <p:cNvSpPr/>
          <p:nvPr/>
        </p:nvSpPr>
        <p:spPr>
          <a:xfrm>
            <a:off x="6473952" y="1600200"/>
            <a:ext cx="54864" cy="1691640"/>
          </a:xfrm>
          <a:prstGeom prst="rect">
            <a:avLst/>
          </a:prstGeom>
          <a:solidFill>
            <a:srgbClr val="2A9D8C"/>
          </a:solidFill>
          <a:ln/>
        </p:spPr>
      </p:sp>
      <p:sp>
        <p:nvSpPr>
          <p:cNvPr id="12" name="Text 10"/>
          <p:cNvSpPr/>
          <p:nvPr/>
        </p:nvSpPr>
        <p:spPr>
          <a:xfrm>
            <a:off x="6675120" y="1709928"/>
            <a:ext cx="1828800" cy="237744"/>
          </a:xfrm>
          <a:prstGeom prst="rect">
            <a:avLst/>
          </a:prstGeom>
          <a:noFill/>
          <a:ln/>
        </p:spPr>
        <p:txBody>
          <a:bodyPr wrap="square" lIns="0" tIns="0" rIns="0" bIns="0" rtlCol="0" anchor="ctr"/>
          <a:lstStyle/>
          <a:p>
            <a:pPr indent="0" marL="0">
              <a:buNone/>
            </a:pPr>
            <a:r>
              <a:rPr lang="en-US" sz="950" b="1" spc="200" kern="0" dirty="0">
                <a:solidFill>
                  <a:srgbClr val="2A9D8C"/>
                </a:solidFill>
                <a:latin typeface="Calibri" pitchFamily="34" charset="0"/>
                <a:ea typeface="Calibri" pitchFamily="34" charset="-122"/>
                <a:cs typeface="Calibri" pitchFamily="34" charset="-120"/>
              </a:rPr>
              <a:t>NOW</a:t>
            </a:r>
            <a:endParaRPr lang="en-US" sz="950" dirty="0"/>
          </a:p>
        </p:txBody>
      </p:sp>
      <p:sp>
        <p:nvSpPr>
          <p:cNvPr id="13" name="Text 11"/>
          <p:cNvSpPr/>
          <p:nvPr/>
        </p:nvSpPr>
        <p:spPr>
          <a:xfrm>
            <a:off x="6675120" y="1965960"/>
            <a:ext cx="4690872" cy="1216152"/>
          </a:xfrm>
          <a:prstGeom prst="rect">
            <a:avLst/>
          </a:prstGeom>
          <a:noFill/>
          <a:ln/>
        </p:spPr>
        <p:txBody>
          <a:bodyPr wrap="square" lIns="0" tIns="0" rIns="0" bIns="0" rtlCol="0" anchor="t"/>
          <a:lstStyle/>
          <a:p>
            <a:pPr indent="0" marL="0">
              <a:buNone/>
            </a:pPr>
            <a:r>
              <a:rPr lang="en-US" sz="1150" dirty="0">
                <a:solidFill>
                  <a:srgbClr val="30363D"/>
                </a:solidFill>
                <a:latin typeface="Calibri" pitchFamily="34" charset="0"/>
                <a:ea typeface="Calibri" pitchFamily="34" charset="-122"/>
                <a:cs typeface="Calibri" pitchFamily="34" charset="-120"/>
              </a:rPr>
              <a:t>A parent initiative triage, signed by a named senior owner, records a scope envelope. Child changes beneath it inherit that envelope.</a:t>
            </a:r>
            <a:endParaRPr lang="en-US" sz="1150" dirty="0"/>
          </a:p>
        </p:txBody>
      </p:sp>
      <p:sp>
        <p:nvSpPr>
          <p:cNvPr id="14" name="Shape 12"/>
          <p:cNvSpPr/>
          <p:nvPr/>
        </p:nvSpPr>
        <p:spPr>
          <a:xfrm>
            <a:off x="502920" y="3566160"/>
            <a:ext cx="5074920" cy="1691640"/>
          </a:xfrm>
          <a:prstGeom prst="roundRect">
            <a:avLst>
              <a:gd name="adj" fmla="val 2973"/>
            </a:avLst>
          </a:prstGeom>
          <a:solidFill>
            <a:srgbClr val="F5F7FA"/>
          </a:solidFill>
          <a:ln w="12700">
            <a:solidFill>
              <a:srgbClr val="C9D2DD"/>
            </a:solidFill>
            <a:prstDash val="solid"/>
          </a:ln>
        </p:spPr>
      </p:sp>
      <p:sp>
        <p:nvSpPr>
          <p:cNvPr id="15" name="Text 13"/>
          <p:cNvSpPr/>
          <p:nvPr/>
        </p:nvSpPr>
        <p:spPr>
          <a:xfrm>
            <a:off x="685800" y="3675888"/>
            <a:ext cx="1828800" cy="237744"/>
          </a:xfrm>
          <a:prstGeom prst="rect">
            <a:avLst/>
          </a:prstGeom>
          <a:noFill/>
          <a:ln/>
        </p:spPr>
        <p:txBody>
          <a:bodyPr wrap="square" lIns="0" tIns="0" rIns="0" bIns="0" rtlCol="0" anchor="ctr"/>
          <a:lstStyle/>
          <a:p>
            <a:pPr indent="0" marL="0">
              <a:buNone/>
            </a:pPr>
            <a:r>
              <a:rPr lang="en-US" sz="950" b="1" spc="200" kern="0" dirty="0">
                <a:solidFill>
                  <a:srgbClr val="557A95"/>
                </a:solidFill>
                <a:latin typeface="Calibri" pitchFamily="34" charset="0"/>
                <a:ea typeface="Calibri" pitchFamily="34" charset="-122"/>
                <a:cs typeface="Calibri" pitchFamily="34" charset="-120"/>
              </a:rPr>
              <a:t>THEN</a:t>
            </a:r>
            <a:endParaRPr lang="en-US" sz="950" dirty="0"/>
          </a:p>
        </p:txBody>
      </p:sp>
      <p:sp>
        <p:nvSpPr>
          <p:cNvPr id="16" name="Text 14"/>
          <p:cNvSpPr/>
          <p:nvPr/>
        </p:nvSpPr>
        <p:spPr>
          <a:xfrm>
            <a:off x="685800" y="3931920"/>
            <a:ext cx="4709160" cy="1216152"/>
          </a:xfrm>
          <a:prstGeom prst="rect">
            <a:avLst/>
          </a:prstGeom>
          <a:noFill/>
          <a:ln/>
        </p:spPr>
        <p:txBody>
          <a:bodyPr wrap="square" lIns="0" tIns="0" rIns="0" bIns="0" rtlCol="0" anchor="t"/>
          <a:lstStyle/>
          <a:p>
            <a:pPr indent="0" marL="0">
              <a:buNone/>
            </a:pPr>
            <a:r>
              <a:rPr lang="en-US" sz="1150" dirty="0">
                <a:solidFill>
                  <a:srgbClr val="30363D"/>
                </a:solidFill>
                <a:latin typeface="Calibri" pitchFamily="34" charset="0"/>
                <a:ea typeface="Calibri" pitchFamily="34" charset="-122"/>
                <a:cs typeface="Calibri" pitchFamily="34" charset="-120"/>
              </a:rPr>
              <a:t>Whether a change needed its own look was a judgement call.</a:t>
            </a:r>
            <a:endParaRPr lang="en-US" sz="1150" dirty="0"/>
          </a:p>
        </p:txBody>
      </p:sp>
      <p:sp>
        <p:nvSpPr>
          <p:cNvPr id="17" name="Shape 15"/>
          <p:cNvSpPr/>
          <p:nvPr/>
        </p:nvSpPr>
        <p:spPr>
          <a:xfrm>
            <a:off x="5742432" y="4238244"/>
            <a:ext cx="566928" cy="347472"/>
          </a:xfrm>
          <a:prstGeom prst="rightArrow">
            <a:avLst/>
          </a:prstGeom>
          <a:solidFill>
            <a:srgbClr val="1F3A5F"/>
          </a:solidFill>
          <a:ln/>
        </p:spPr>
      </p:sp>
      <p:sp>
        <p:nvSpPr>
          <p:cNvPr id="18" name="Shape 16"/>
          <p:cNvSpPr/>
          <p:nvPr/>
        </p:nvSpPr>
        <p:spPr>
          <a:xfrm>
            <a:off x="6473952" y="3566160"/>
            <a:ext cx="5074920" cy="1691640"/>
          </a:xfrm>
          <a:prstGeom prst="roundRect">
            <a:avLst>
              <a:gd name="adj" fmla="val 2973"/>
            </a:avLst>
          </a:prstGeom>
          <a:solidFill>
            <a:srgbClr val="FFFFFF"/>
          </a:solidFill>
          <a:ln w="12700">
            <a:solidFill>
              <a:srgbClr val="C9D2DD"/>
            </a:solidFill>
            <a:prstDash val="solid"/>
          </a:ln>
        </p:spPr>
      </p:sp>
      <p:sp>
        <p:nvSpPr>
          <p:cNvPr id="19" name="Shape 17"/>
          <p:cNvSpPr/>
          <p:nvPr/>
        </p:nvSpPr>
        <p:spPr>
          <a:xfrm>
            <a:off x="6473952" y="3566160"/>
            <a:ext cx="54864" cy="1691640"/>
          </a:xfrm>
          <a:prstGeom prst="rect">
            <a:avLst/>
          </a:prstGeom>
          <a:solidFill>
            <a:srgbClr val="2A9D8C"/>
          </a:solidFill>
          <a:ln/>
        </p:spPr>
      </p:sp>
      <p:sp>
        <p:nvSpPr>
          <p:cNvPr id="20" name="Text 18"/>
          <p:cNvSpPr/>
          <p:nvPr/>
        </p:nvSpPr>
        <p:spPr>
          <a:xfrm>
            <a:off x="6675120" y="3675888"/>
            <a:ext cx="1828800" cy="237744"/>
          </a:xfrm>
          <a:prstGeom prst="rect">
            <a:avLst/>
          </a:prstGeom>
          <a:noFill/>
          <a:ln/>
        </p:spPr>
        <p:txBody>
          <a:bodyPr wrap="square" lIns="0" tIns="0" rIns="0" bIns="0" rtlCol="0" anchor="ctr"/>
          <a:lstStyle/>
          <a:p>
            <a:pPr indent="0" marL="0">
              <a:buNone/>
            </a:pPr>
            <a:r>
              <a:rPr lang="en-US" sz="950" b="1" spc="200" kern="0" dirty="0">
                <a:solidFill>
                  <a:srgbClr val="2A9D8C"/>
                </a:solidFill>
                <a:latin typeface="Calibri" pitchFamily="34" charset="0"/>
                <a:ea typeface="Calibri" pitchFamily="34" charset="-122"/>
                <a:cs typeface="Calibri" pitchFamily="34" charset="-120"/>
              </a:rPr>
              <a:t>NOW</a:t>
            </a:r>
            <a:endParaRPr lang="en-US" sz="950" dirty="0"/>
          </a:p>
        </p:txBody>
      </p:sp>
      <p:sp>
        <p:nvSpPr>
          <p:cNvPr id="21" name="Text 19"/>
          <p:cNvSpPr/>
          <p:nvPr/>
        </p:nvSpPr>
        <p:spPr>
          <a:xfrm>
            <a:off x="6675120" y="3931920"/>
            <a:ext cx="4690872" cy="1216152"/>
          </a:xfrm>
          <a:prstGeom prst="rect">
            <a:avLst/>
          </a:prstGeom>
          <a:noFill/>
          <a:ln/>
        </p:spPr>
        <p:txBody>
          <a:bodyPr wrap="square" lIns="0" tIns="0" rIns="0" bIns="0" rtlCol="0" anchor="t"/>
          <a:lstStyle/>
          <a:p>
            <a:pPr indent="0" marL="0">
              <a:buNone/>
            </a:pPr>
            <a:r>
              <a:rPr lang="en-US" sz="1150" dirty="0">
                <a:solidFill>
                  <a:srgbClr val="30363D"/>
                </a:solidFill>
                <a:latin typeface="Calibri" pitchFamily="34" charset="0"/>
                <a:ea typeface="Calibri" pitchFamily="34" charset="-122"/>
                <a:cs typeface="Calibri" pitchFamily="34" charset="-120"/>
              </a:rPr>
              <a:t>Objective child criteria: inside the envelope it self-clears; crossing a trigger or raising the tier it re-triages; large or novel, it becomes its own parent.</a:t>
            </a:r>
            <a:endParaRPr lang="en-US" sz="1150" dirty="0"/>
          </a:p>
        </p:txBody>
      </p:sp>
      <p:sp>
        <p:nvSpPr>
          <p:cNvPr id="22" name="Shape 20"/>
          <p:cNvSpPr/>
          <p:nvPr/>
        </p:nvSpPr>
        <p:spPr>
          <a:xfrm>
            <a:off x="502920" y="5486400"/>
            <a:ext cx="11183112" cy="731520"/>
          </a:xfrm>
          <a:prstGeom prst="rect">
            <a:avLst/>
          </a:prstGeom>
          <a:solidFill>
            <a:srgbClr val="FCF6EC"/>
          </a:solidFill>
          <a:ln w="9525">
            <a:solidFill>
              <a:srgbClr val="E0A458"/>
            </a:solidFill>
            <a:prstDash val="solid"/>
          </a:ln>
        </p:spPr>
      </p:sp>
      <p:sp>
        <p:nvSpPr>
          <p:cNvPr id="23" name="Shape 21"/>
          <p:cNvSpPr/>
          <p:nvPr/>
        </p:nvSpPr>
        <p:spPr>
          <a:xfrm>
            <a:off x="502920" y="5486400"/>
            <a:ext cx="50292" cy="731520"/>
          </a:xfrm>
          <a:prstGeom prst="rect">
            <a:avLst/>
          </a:prstGeom>
          <a:solidFill>
            <a:srgbClr val="E0A458"/>
          </a:solidFill>
          <a:ln/>
        </p:spPr>
      </p:sp>
      <p:sp>
        <p:nvSpPr>
          <p:cNvPr id="24" name="Text 22"/>
          <p:cNvSpPr/>
          <p:nvPr/>
        </p:nvSpPr>
        <p:spPr>
          <a:xfrm>
            <a:off x="649224" y="5541264"/>
            <a:ext cx="10908792" cy="621792"/>
          </a:xfrm>
          <a:prstGeom prst="rect">
            <a:avLst/>
          </a:prstGeom>
          <a:noFill/>
          <a:ln/>
        </p:spPr>
        <p:txBody>
          <a:bodyPr wrap="square" lIns="0" tIns="0" rIns="0" bIns="0" rtlCol="0" anchor="ctr"/>
          <a:lstStyle/>
          <a:p>
            <a:pPr indent="0" marL="0">
              <a:buNone/>
            </a:pPr>
            <a:r>
              <a:rPr lang="en-US" sz="1050" b="1" dirty="0">
                <a:solidFill>
                  <a:srgbClr val="9A6A1E"/>
                </a:solidFill>
                <a:latin typeface="Calibri" pitchFamily="34" charset="0"/>
                <a:ea typeface="Calibri" pitchFamily="34" charset="-122"/>
                <a:cs typeface="Calibri" pitchFamily="34" charset="-120"/>
              </a:rPr>
              <a:t>And it stays current.  </a:t>
            </a:r>
            <a:pPr indent="0" marL="0">
              <a:buNone/>
            </a:pPr>
            <a:r>
              <a:rPr lang="en-US" sz="1050" dirty="0">
                <a:solidFill>
                  <a:srgbClr val="30363D"/>
                </a:solidFill>
                <a:latin typeface="Calibri" pitchFamily="34" charset="0"/>
                <a:ea typeface="Calibri" pitchFamily="34" charset="-122"/>
                <a:cs typeface="Calibri" pitchFamily="34" charset="-120"/>
              </a:rPr>
              <a:t>A triage is valid only for the scope it assessed. Material change re-opens it, and delivered scope is reconciled against it at release: the 0.1 triage versus 1.0 product control.</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92608"/>
            <a:ext cx="10607040" cy="566928"/>
          </a:xfrm>
          <a:prstGeom prst="rect">
            <a:avLst/>
          </a:prstGeom>
          <a:noFill/>
          <a:ln/>
        </p:spPr>
        <p:txBody>
          <a:bodyPr wrap="square" lIns="0" tIns="0" rIns="0" bIns="0" rtlCol="0" anchor="ctr"/>
          <a:lstStyle/>
          <a:p>
            <a:pPr indent="0" marL="0">
              <a:buNone/>
            </a:pPr>
            <a:r>
              <a:rPr lang="en-US" sz="2600" b="1" dirty="0">
                <a:solidFill>
                  <a:srgbClr val="1F3A5F"/>
                </a:solidFill>
                <a:latin typeface="Calibri" pitchFamily="34" charset="0"/>
                <a:ea typeface="Calibri" pitchFamily="34" charset="-122"/>
                <a:cs typeface="Calibri" pitchFamily="34" charset="-120"/>
              </a:rPr>
              <a:t>The parent and child system, in practice</a:t>
            </a:r>
            <a:endParaRPr lang="en-US" sz="2600" dirty="0"/>
          </a:p>
        </p:txBody>
      </p:sp>
      <p:sp>
        <p:nvSpPr>
          <p:cNvPr id="3" name="Text 1"/>
          <p:cNvSpPr/>
          <p:nvPr/>
        </p:nvSpPr>
        <p:spPr>
          <a:xfrm>
            <a:off x="521208" y="859536"/>
            <a:ext cx="10607040" cy="274320"/>
          </a:xfrm>
          <a:prstGeom prst="rect">
            <a:avLst/>
          </a:prstGeom>
          <a:noFill/>
          <a:ln/>
        </p:spPr>
        <p:txBody>
          <a:bodyPr wrap="square" lIns="0" tIns="0" rIns="0" bIns="0" rtlCol="0" anchor="ctr"/>
          <a:lstStyle/>
          <a:p>
            <a:pPr indent="0" marL="0">
              <a:buNone/>
            </a:pPr>
            <a:r>
              <a:rPr lang="en-US" sz="1050" b="1" spc="300" kern="0" dirty="0">
                <a:solidFill>
                  <a:srgbClr val="2A9D8C"/>
                </a:solidFill>
                <a:latin typeface="Calibri" pitchFamily="34" charset="0"/>
                <a:ea typeface="Calibri" pitchFamily="34" charset="-122"/>
                <a:cs typeface="Calibri" pitchFamily="34" charset="-120"/>
              </a:rPr>
              <a:t>ONE ENVELOPE, THREE OUTCOMES FOR EVERY CHANGE</a:t>
            </a:r>
            <a:endParaRPr lang="en-US" sz="1050" dirty="0"/>
          </a:p>
        </p:txBody>
      </p:sp>
      <p:sp>
        <p:nvSpPr>
          <p:cNvPr id="4" name="Text 2"/>
          <p:cNvSpPr/>
          <p:nvPr/>
        </p:nvSpPr>
        <p:spPr>
          <a:xfrm>
            <a:off x="502920" y="6473952"/>
            <a:ext cx="8686800" cy="274320"/>
          </a:xfrm>
          <a:prstGeom prst="rect">
            <a:avLst/>
          </a:prstGeom>
          <a:noFill/>
          <a:ln/>
        </p:spPr>
        <p:txBody>
          <a:bodyPr wrap="square" lIns="0" tIns="0" rIns="0" bIns="0" rtlCol="0" anchor="ctr"/>
          <a:lstStyle/>
          <a:p>
            <a:pPr indent="0" marL="0">
              <a:buNone/>
            </a:pPr>
            <a:r>
              <a:rPr lang="en-US" sz="850" dirty="0">
                <a:solidFill>
                  <a:srgbClr val="6E7B8A"/>
                </a:solidFill>
                <a:latin typeface="Calibri" pitchFamily="34" charset="0"/>
                <a:ea typeface="Calibri" pitchFamily="34" charset="-122"/>
                <a:cs typeface="Calibri" pitchFamily="34" charset="-120"/>
              </a:rPr>
              <a:t>PAVE  ·  Security Engagement Operating Model  ·  How the model evolved</a:t>
            </a:r>
            <a:endParaRPr lang="en-US" sz="850" dirty="0"/>
          </a:p>
        </p:txBody>
      </p:sp>
      <p:sp>
        <p:nvSpPr>
          <p:cNvPr id="5" name="Text 3"/>
          <p:cNvSpPr/>
          <p:nvPr/>
        </p:nvSpPr>
        <p:spPr>
          <a:xfrm>
            <a:off x="11475720" y="6473952"/>
            <a:ext cx="457200" cy="274320"/>
          </a:xfrm>
          <a:prstGeom prst="rect">
            <a:avLst/>
          </a:prstGeom>
          <a:noFill/>
          <a:ln/>
        </p:spPr>
        <p:txBody>
          <a:bodyPr wrap="square" lIns="0" tIns="0" rIns="0" bIns="0" rtlCol="0" anchor="ctr"/>
          <a:lstStyle/>
          <a:p>
            <a:pPr algn="r" indent="0" marL="0">
              <a:buNone/>
            </a:pPr>
            <a:r>
              <a:rPr lang="en-US" sz="850" dirty="0">
                <a:solidFill>
                  <a:srgbClr val="6E7B8A"/>
                </a:solidFill>
                <a:latin typeface="Calibri" pitchFamily="34" charset="0"/>
                <a:ea typeface="Calibri" pitchFamily="34" charset="-122"/>
                <a:cs typeface="Calibri" pitchFamily="34" charset="-120"/>
              </a:rPr>
              <a:t>6</a:t>
            </a:r>
            <a:endParaRPr lang="en-US" sz="850" dirty="0"/>
          </a:p>
        </p:txBody>
      </p:sp>
      <p:sp>
        <p:nvSpPr>
          <p:cNvPr id="6" name="Shape 4"/>
          <p:cNvSpPr/>
          <p:nvPr/>
        </p:nvSpPr>
        <p:spPr>
          <a:xfrm>
            <a:off x="2011680" y="1481328"/>
            <a:ext cx="8138160" cy="1371600"/>
          </a:xfrm>
          <a:prstGeom prst="roundRect">
            <a:avLst>
              <a:gd name="adj" fmla="val 3667"/>
            </a:avLst>
          </a:prstGeom>
          <a:solidFill>
            <a:srgbClr val="FFFFFF"/>
          </a:solidFill>
          <a:ln w="12700">
            <a:solidFill>
              <a:srgbClr val="C9D2DD"/>
            </a:solidFill>
            <a:prstDash val="solid"/>
          </a:ln>
        </p:spPr>
      </p:sp>
      <p:sp>
        <p:nvSpPr>
          <p:cNvPr id="7" name="Shape 5"/>
          <p:cNvSpPr/>
          <p:nvPr/>
        </p:nvSpPr>
        <p:spPr>
          <a:xfrm>
            <a:off x="2011680" y="1481328"/>
            <a:ext cx="8138160" cy="384048"/>
          </a:xfrm>
          <a:prstGeom prst="rect">
            <a:avLst/>
          </a:prstGeom>
          <a:solidFill>
            <a:srgbClr val="1F3A5F"/>
          </a:solidFill>
          <a:ln/>
        </p:spPr>
      </p:sp>
      <p:sp>
        <p:nvSpPr>
          <p:cNvPr id="8" name="Text 6"/>
          <p:cNvSpPr/>
          <p:nvPr/>
        </p:nvSpPr>
        <p:spPr>
          <a:xfrm>
            <a:off x="2212848" y="1536192"/>
            <a:ext cx="7772400" cy="274320"/>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PARENT INITIATIVE TRIAGE  ·  SIGNED BY A NAMED SENIOR OWNER</a:t>
            </a:r>
            <a:endParaRPr lang="en-US" sz="1050" dirty="0"/>
          </a:p>
        </p:txBody>
      </p:sp>
      <p:sp>
        <p:nvSpPr>
          <p:cNvPr id="9" name="Text 7"/>
          <p:cNvSpPr/>
          <p:nvPr/>
        </p:nvSpPr>
        <p:spPr>
          <a:xfrm>
            <a:off x="2212848" y="1938528"/>
            <a:ext cx="7772400" cy="868680"/>
          </a:xfrm>
          <a:prstGeom prst="rect">
            <a:avLst/>
          </a:prstGeom>
          <a:noFill/>
          <a:ln/>
        </p:spPr>
        <p:txBody>
          <a:bodyPr wrap="square" lIns="0" tIns="0" rIns="0" bIns="0" rtlCol="0" anchor="t"/>
          <a:lstStyle/>
          <a:p>
            <a:pPr indent="0" marL="0">
              <a:buNone/>
            </a:pPr>
            <a:r>
              <a:rPr lang="en-US" sz="1080" dirty="0">
                <a:solidFill>
                  <a:srgbClr val="30363D"/>
                </a:solidFill>
                <a:latin typeface="Calibri" pitchFamily="34" charset="0"/>
                <a:ea typeface="Calibri" pitchFamily="34" charset="-122"/>
                <a:cs typeface="Calibri" pitchFamily="34" charset="-120"/>
              </a:rPr>
              <a:t>Completed once, at the start. Records the scope envelope the workstreams beneath it inherit: the components and services in scope, the data classes, the payment flows and trust boundaries, and the tiers assessed.</a:t>
            </a:r>
            <a:endParaRPr lang="en-US" sz="1080" dirty="0"/>
          </a:p>
        </p:txBody>
      </p:sp>
      <p:sp>
        <p:nvSpPr>
          <p:cNvPr id="10" name="Shape 8"/>
          <p:cNvSpPr/>
          <p:nvPr/>
        </p:nvSpPr>
        <p:spPr>
          <a:xfrm>
            <a:off x="2354580" y="3017520"/>
            <a:ext cx="7863840" cy="0"/>
          </a:xfrm>
          <a:prstGeom prst="line">
            <a:avLst/>
          </a:prstGeom>
          <a:noFill/>
          <a:ln w="19050">
            <a:solidFill>
              <a:srgbClr val="C9D2DD"/>
            </a:solidFill>
            <a:prstDash val="solid"/>
          </a:ln>
        </p:spPr>
      </p:sp>
      <p:sp>
        <p:nvSpPr>
          <p:cNvPr id="11" name="Shape 9"/>
          <p:cNvSpPr/>
          <p:nvPr/>
        </p:nvSpPr>
        <p:spPr>
          <a:xfrm>
            <a:off x="6080760" y="2852928"/>
            <a:ext cx="0" cy="164592"/>
          </a:xfrm>
          <a:prstGeom prst="line">
            <a:avLst/>
          </a:prstGeom>
          <a:noFill/>
          <a:ln w="19050">
            <a:solidFill>
              <a:srgbClr val="C9D2DD"/>
            </a:solidFill>
            <a:prstDash val="solid"/>
          </a:ln>
        </p:spPr>
      </p:sp>
      <p:sp>
        <p:nvSpPr>
          <p:cNvPr id="12" name="Shape 10"/>
          <p:cNvSpPr/>
          <p:nvPr/>
        </p:nvSpPr>
        <p:spPr>
          <a:xfrm>
            <a:off x="2354580" y="3017520"/>
            <a:ext cx="0" cy="292608"/>
          </a:xfrm>
          <a:prstGeom prst="line">
            <a:avLst/>
          </a:prstGeom>
          <a:noFill/>
          <a:ln w="19050">
            <a:solidFill>
              <a:srgbClr val="C9D2DD"/>
            </a:solidFill>
            <a:prstDash val="solid"/>
          </a:ln>
        </p:spPr>
      </p:sp>
      <p:sp>
        <p:nvSpPr>
          <p:cNvPr id="13" name="Shape 11"/>
          <p:cNvSpPr/>
          <p:nvPr/>
        </p:nvSpPr>
        <p:spPr>
          <a:xfrm>
            <a:off x="6286500" y="3017520"/>
            <a:ext cx="0" cy="292608"/>
          </a:xfrm>
          <a:prstGeom prst="line">
            <a:avLst/>
          </a:prstGeom>
          <a:noFill/>
          <a:ln w="19050">
            <a:solidFill>
              <a:srgbClr val="C9D2DD"/>
            </a:solidFill>
            <a:prstDash val="solid"/>
          </a:ln>
        </p:spPr>
      </p:sp>
      <p:sp>
        <p:nvSpPr>
          <p:cNvPr id="14" name="Shape 12"/>
          <p:cNvSpPr/>
          <p:nvPr/>
        </p:nvSpPr>
        <p:spPr>
          <a:xfrm>
            <a:off x="10218420" y="3017520"/>
            <a:ext cx="0" cy="292608"/>
          </a:xfrm>
          <a:prstGeom prst="line">
            <a:avLst/>
          </a:prstGeom>
          <a:noFill/>
          <a:ln w="19050">
            <a:solidFill>
              <a:srgbClr val="C9D2DD"/>
            </a:solidFill>
            <a:prstDash val="solid"/>
          </a:ln>
        </p:spPr>
      </p:sp>
      <p:sp>
        <p:nvSpPr>
          <p:cNvPr id="15" name="Shape 13"/>
          <p:cNvSpPr/>
          <p:nvPr/>
        </p:nvSpPr>
        <p:spPr>
          <a:xfrm>
            <a:off x="502920" y="3310128"/>
            <a:ext cx="3703320" cy="1965960"/>
          </a:xfrm>
          <a:prstGeom prst="roundRect">
            <a:avLst>
              <a:gd name="adj" fmla="val 2558"/>
            </a:avLst>
          </a:prstGeom>
          <a:solidFill>
            <a:srgbClr val="FFFFFF"/>
          </a:solidFill>
          <a:ln w="12700">
            <a:solidFill>
              <a:srgbClr val="C9D2DD"/>
            </a:solidFill>
            <a:prstDash val="solid"/>
          </a:ln>
        </p:spPr>
      </p:sp>
      <p:sp>
        <p:nvSpPr>
          <p:cNvPr id="16" name="Shape 14"/>
          <p:cNvSpPr/>
          <p:nvPr/>
        </p:nvSpPr>
        <p:spPr>
          <a:xfrm>
            <a:off x="502920" y="3310128"/>
            <a:ext cx="3703320" cy="68580"/>
          </a:xfrm>
          <a:prstGeom prst="rect">
            <a:avLst/>
          </a:prstGeom>
          <a:solidFill>
            <a:srgbClr val="2A9D8C"/>
          </a:solidFill>
          <a:ln/>
        </p:spPr>
      </p:sp>
      <p:sp>
        <p:nvSpPr>
          <p:cNvPr id="17" name="Text 15"/>
          <p:cNvSpPr/>
          <p:nvPr/>
        </p:nvSpPr>
        <p:spPr>
          <a:xfrm>
            <a:off x="667512" y="3456432"/>
            <a:ext cx="3374136" cy="36576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Inside the envelope</a:t>
            </a:r>
            <a:endParaRPr lang="en-US" sz="1300" dirty="0"/>
          </a:p>
        </p:txBody>
      </p:sp>
      <p:sp>
        <p:nvSpPr>
          <p:cNvPr id="18" name="Text 16"/>
          <p:cNvSpPr/>
          <p:nvPr/>
        </p:nvSpPr>
        <p:spPr>
          <a:xfrm>
            <a:off x="667512" y="3858768"/>
            <a:ext cx="3374136" cy="1280160"/>
          </a:xfrm>
          <a:prstGeom prst="rect">
            <a:avLst/>
          </a:prstGeom>
          <a:noFill/>
          <a:ln/>
        </p:spPr>
        <p:txBody>
          <a:bodyPr wrap="square" lIns="0" tIns="0" rIns="0" bIns="0" rtlCol="0" anchor="t"/>
          <a:lstStyle/>
          <a:p>
            <a:pPr indent="0" marL="0">
              <a:buNone/>
            </a:pPr>
            <a:r>
              <a:rPr lang="en-US" sz="1060" dirty="0">
                <a:solidFill>
                  <a:srgbClr val="30363D"/>
                </a:solidFill>
                <a:latin typeface="Calibri" pitchFamily="34" charset="0"/>
                <a:ea typeface="Calibri" pitchFamily="34" charset="-122"/>
                <a:cs typeface="Calibri" pitchFamily="34" charset="-120"/>
              </a:rPr>
              <a:t>The diff fires no trigger the parent did not assess, and raises neither the tier nor a data classification. It self-clears as a child; the record is applied for it.</a:t>
            </a:r>
            <a:endParaRPr lang="en-US" sz="1060" dirty="0"/>
          </a:p>
        </p:txBody>
      </p:sp>
      <p:sp>
        <p:nvSpPr>
          <p:cNvPr id="19" name="Shape 17"/>
          <p:cNvSpPr/>
          <p:nvPr/>
        </p:nvSpPr>
        <p:spPr>
          <a:xfrm>
            <a:off x="4434840" y="3310128"/>
            <a:ext cx="3703320" cy="1965960"/>
          </a:xfrm>
          <a:prstGeom prst="roundRect">
            <a:avLst>
              <a:gd name="adj" fmla="val 2558"/>
            </a:avLst>
          </a:prstGeom>
          <a:solidFill>
            <a:srgbClr val="FFFFFF"/>
          </a:solidFill>
          <a:ln w="12700">
            <a:solidFill>
              <a:srgbClr val="C9D2DD"/>
            </a:solidFill>
            <a:prstDash val="solid"/>
          </a:ln>
        </p:spPr>
      </p:sp>
      <p:sp>
        <p:nvSpPr>
          <p:cNvPr id="20" name="Shape 18"/>
          <p:cNvSpPr/>
          <p:nvPr/>
        </p:nvSpPr>
        <p:spPr>
          <a:xfrm>
            <a:off x="4434840" y="3310128"/>
            <a:ext cx="3703320" cy="68580"/>
          </a:xfrm>
          <a:prstGeom prst="rect">
            <a:avLst/>
          </a:prstGeom>
          <a:solidFill>
            <a:srgbClr val="E0A458"/>
          </a:solidFill>
          <a:ln/>
        </p:spPr>
      </p:sp>
      <p:sp>
        <p:nvSpPr>
          <p:cNvPr id="21" name="Text 19"/>
          <p:cNvSpPr/>
          <p:nvPr/>
        </p:nvSpPr>
        <p:spPr>
          <a:xfrm>
            <a:off x="4599432" y="3456432"/>
            <a:ext cx="3374136" cy="36576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Crosses a trigger</a:t>
            </a:r>
            <a:endParaRPr lang="en-US" sz="1300" dirty="0"/>
          </a:p>
        </p:txBody>
      </p:sp>
      <p:sp>
        <p:nvSpPr>
          <p:cNvPr id="22" name="Text 20"/>
          <p:cNvSpPr/>
          <p:nvPr/>
        </p:nvSpPr>
        <p:spPr>
          <a:xfrm>
            <a:off x="4599432" y="3858768"/>
            <a:ext cx="3374136" cy="1280160"/>
          </a:xfrm>
          <a:prstGeom prst="rect">
            <a:avLst/>
          </a:prstGeom>
          <a:noFill/>
          <a:ln/>
        </p:spPr>
        <p:txBody>
          <a:bodyPr wrap="square" lIns="0" tIns="0" rIns="0" bIns="0" rtlCol="0" anchor="t"/>
          <a:lstStyle/>
          <a:p>
            <a:pPr indent="0" marL="0">
              <a:buNone/>
            </a:pPr>
            <a:r>
              <a:rPr lang="en-US" sz="1060" dirty="0">
                <a:solidFill>
                  <a:srgbClr val="30363D"/>
                </a:solidFill>
                <a:latin typeface="Calibri" pitchFamily="34" charset="0"/>
                <a:ea typeface="Calibri" pitchFamily="34" charset="-122"/>
                <a:cs typeface="Calibri" pitchFamily="34" charset="-120"/>
              </a:rPr>
              <a:t>A new trigger, a higher tier or a changed data classification takes it outside the envelope. It re-triages in its own right before it proceeds.</a:t>
            </a:r>
            <a:endParaRPr lang="en-US" sz="1060" dirty="0"/>
          </a:p>
        </p:txBody>
      </p:sp>
      <p:sp>
        <p:nvSpPr>
          <p:cNvPr id="23" name="Shape 21"/>
          <p:cNvSpPr/>
          <p:nvPr/>
        </p:nvSpPr>
        <p:spPr>
          <a:xfrm>
            <a:off x="8366760" y="3310128"/>
            <a:ext cx="3703320" cy="1965960"/>
          </a:xfrm>
          <a:prstGeom prst="roundRect">
            <a:avLst>
              <a:gd name="adj" fmla="val 2558"/>
            </a:avLst>
          </a:prstGeom>
          <a:solidFill>
            <a:srgbClr val="FFFFFF"/>
          </a:solidFill>
          <a:ln w="12700">
            <a:solidFill>
              <a:srgbClr val="C9D2DD"/>
            </a:solidFill>
            <a:prstDash val="solid"/>
          </a:ln>
        </p:spPr>
      </p:sp>
      <p:sp>
        <p:nvSpPr>
          <p:cNvPr id="24" name="Shape 22"/>
          <p:cNvSpPr/>
          <p:nvPr/>
        </p:nvSpPr>
        <p:spPr>
          <a:xfrm>
            <a:off x="8366760" y="3310128"/>
            <a:ext cx="3703320" cy="68580"/>
          </a:xfrm>
          <a:prstGeom prst="rect">
            <a:avLst/>
          </a:prstGeom>
          <a:solidFill>
            <a:srgbClr val="557A95"/>
          </a:solidFill>
          <a:ln/>
        </p:spPr>
      </p:sp>
      <p:sp>
        <p:nvSpPr>
          <p:cNvPr id="25" name="Text 23"/>
          <p:cNvSpPr/>
          <p:nvPr/>
        </p:nvSpPr>
        <p:spPr>
          <a:xfrm>
            <a:off x="8531352" y="3456432"/>
            <a:ext cx="3374136" cy="36576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Large or novel itself</a:t>
            </a:r>
            <a:endParaRPr lang="en-US" sz="1300" dirty="0"/>
          </a:p>
        </p:txBody>
      </p:sp>
      <p:sp>
        <p:nvSpPr>
          <p:cNvPr id="26" name="Text 24"/>
          <p:cNvSpPr/>
          <p:nvPr/>
        </p:nvSpPr>
        <p:spPr>
          <a:xfrm>
            <a:off x="8531352" y="3858768"/>
            <a:ext cx="3374136" cy="1280160"/>
          </a:xfrm>
          <a:prstGeom prst="rect">
            <a:avLst/>
          </a:prstGeom>
          <a:noFill/>
          <a:ln/>
        </p:spPr>
        <p:txBody>
          <a:bodyPr wrap="square" lIns="0" tIns="0" rIns="0" bIns="0" rtlCol="0" anchor="t"/>
          <a:lstStyle/>
          <a:p>
            <a:pPr indent="0" marL="0">
              <a:buNone/>
            </a:pPr>
            <a:r>
              <a:rPr lang="en-US" sz="1060" dirty="0">
                <a:solidFill>
                  <a:srgbClr val="30363D"/>
                </a:solidFill>
                <a:latin typeface="Calibri" pitchFamily="34" charset="0"/>
                <a:ea typeface="Calibri" pitchFamily="34" charset="-122"/>
                <a:cs typeface="Calibri" pitchFamily="34" charset="-120"/>
              </a:rPr>
              <a:t>A workstream that is itself above the initiative threshold becomes its own parent triage, with its own named senior owner.</a:t>
            </a:r>
            <a:endParaRPr lang="en-US" sz="1060" dirty="0"/>
          </a:p>
        </p:txBody>
      </p:sp>
      <p:sp>
        <p:nvSpPr>
          <p:cNvPr id="27" name="Shape 25"/>
          <p:cNvSpPr/>
          <p:nvPr/>
        </p:nvSpPr>
        <p:spPr>
          <a:xfrm>
            <a:off x="502920" y="5532120"/>
            <a:ext cx="11183112" cy="777240"/>
          </a:xfrm>
          <a:prstGeom prst="rect">
            <a:avLst/>
          </a:prstGeom>
          <a:solidFill>
            <a:srgbClr val="FCF6EC"/>
          </a:solidFill>
          <a:ln w="9525">
            <a:solidFill>
              <a:srgbClr val="E0A458"/>
            </a:solidFill>
            <a:prstDash val="solid"/>
          </a:ln>
        </p:spPr>
      </p:sp>
      <p:sp>
        <p:nvSpPr>
          <p:cNvPr id="28" name="Shape 26"/>
          <p:cNvSpPr/>
          <p:nvPr/>
        </p:nvSpPr>
        <p:spPr>
          <a:xfrm>
            <a:off x="502920" y="5532120"/>
            <a:ext cx="50292" cy="777240"/>
          </a:xfrm>
          <a:prstGeom prst="rect">
            <a:avLst/>
          </a:prstGeom>
          <a:solidFill>
            <a:srgbClr val="E0A458"/>
          </a:solidFill>
          <a:ln/>
        </p:spPr>
      </p:sp>
      <p:sp>
        <p:nvSpPr>
          <p:cNvPr id="29" name="Text 27"/>
          <p:cNvSpPr/>
          <p:nvPr/>
        </p:nvSpPr>
        <p:spPr>
          <a:xfrm>
            <a:off x="649224" y="5586984"/>
            <a:ext cx="10908792" cy="667512"/>
          </a:xfrm>
          <a:prstGeom prst="rect">
            <a:avLst/>
          </a:prstGeom>
          <a:noFill/>
          <a:ln/>
        </p:spPr>
        <p:txBody>
          <a:bodyPr wrap="square" lIns="0" tIns="0" rIns="0" bIns="0" rtlCol="0" anchor="ctr"/>
          <a:lstStyle/>
          <a:p>
            <a:pPr indent="0" marL="0">
              <a:buNone/>
            </a:pPr>
            <a:r>
              <a:rPr lang="en-US" sz="1050" b="1" dirty="0">
                <a:solidFill>
                  <a:srgbClr val="9A6A1E"/>
                </a:solidFill>
                <a:latin typeface="Calibri" pitchFamily="34" charset="0"/>
                <a:ea typeface="Calibri" pitchFamily="34" charset="-122"/>
                <a:cs typeface="Calibri" pitchFamily="34" charset="-120"/>
              </a:rPr>
              <a:t>Inside or outside is computed, not argued.  </a:t>
            </a:r>
            <a:pPr indent="0" marL="0">
              <a:buNone/>
            </a:pPr>
            <a:r>
              <a:rPr lang="en-US" sz="1050" dirty="0">
                <a:solidFill>
                  <a:srgbClr val="30363D"/>
                </a:solidFill>
                <a:latin typeface="Calibri" pitchFamily="34" charset="0"/>
                <a:ea typeface="Calibri" pitchFamily="34" charset="-122"/>
                <a:cs typeface="Calibri" pitchFamily="34" charset="-120"/>
              </a:rPr>
              <a:t>The same instrumented triggers used everywhere decide it: whether a change is a child is a property of its diff against the recorded envelope, not a judgement call by the author. The parent is versioned, and a material scope change re-opens it.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10607040" cy="566928"/>
          </a:xfrm>
          <a:prstGeom prst="rect">
            <a:avLst/>
          </a:prstGeom>
          <a:noFill/>
          <a:ln/>
        </p:spPr>
        <p:txBody>
          <a:bodyPr wrap="square" lIns="0" tIns="0" rIns="0" bIns="0" rtlCol="0" anchor="ctr"/>
          <a:lstStyle/>
          <a:p>
            <a:pPr indent="0" marL="0">
              <a:buNone/>
            </a:pPr>
            <a:r>
              <a:rPr lang="en-US" sz="2600" b="1" dirty="0">
                <a:solidFill>
                  <a:srgbClr val="1F3A5F"/>
                </a:solidFill>
                <a:latin typeface="Calibri" pitchFamily="34" charset="0"/>
                <a:ea typeface="Calibri" pitchFamily="34" charset="-122"/>
                <a:cs typeface="Calibri" pitchFamily="34" charset="-120"/>
              </a:rPr>
              <a:t>Trust, verified by instrumentation</a:t>
            </a:r>
            <a:endParaRPr lang="en-US" sz="2600" dirty="0"/>
          </a:p>
        </p:txBody>
      </p:sp>
      <p:sp>
        <p:nvSpPr>
          <p:cNvPr id="3" name="Text 1"/>
          <p:cNvSpPr/>
          <p:nvPr/>
        </p:nvSpPr>
        <p:spPr>
          <a:xfrm>
            <a:off x="521208" y="859536"/>
            <a:ext cx="10607040" cy="274320"/>
          </a:xfrm>
          <a:prstGeom prst="rect">
            <a:avLst/>
          </a:prstGeom>
          <a:noFill/>
          <a:ln/>
        </p:spPr>
        <p:txBody>
          <a:bodyPr wrap="square" lIns="0" tIns="0" rIns="0" bIns="0" rtlCol="0" anchor="ctr"/>
          <a:lstStyle/>
          <a:p>
            <a:pPr indent="0" marL="0">
              <a:buNone/>
            </a:pPr>
            <a:r>
              <a:rPr lang="en-US" sz="1050" b="1" spc="300" kern="0" dirty="0">
                <a:solidFill>
                  <a:srgbClr val="2A9D8C"/>
                </a:solidFill>
                <a:latin typeface="Calibri" pitchFamily="34" charset="0"/>
                <a:ea typeface="Calibri" pitchFamily="34" charset="-122"/>
                <a:cs typeface="Calibri" pitchFamily="34" charset="-120"/>
              </a:rPr>
              <a:t>THE GATE COMPUTES CURRENCY; IT DOES NOT ASK</a:t>
            </a:r>
            <a:endParaRPr lang="en-US" sz="1050" dirty="0"/>
          </a:p>
        </p:txBody>
      </p:sp>
      <p:sp>
        <p:nvSpPr>
          <p:cNvPr id="4" name="Text 2"/>
          <p:cNvSpPr/>
          <p:nvPr/>
        </p:nvSpPr>
        <p:spPr>
          <a:xfrm>
            <a:off x="502920" y="6473952"/>
            <a:ext cx="8686800" cy="274320"/>
          </a:xfrm>
          <a:prstGeom prst="rect">
            <a:avLst/>
          </a:prstGeom>
          <a:noFill/>
          <a:ln/>
        </p:spPr>
        <p:txBody>
          <a:bodyPr wrap="square" lIns="0" tIns="0" rIns="0" bIns="0" rtlCol="0" anchor="ctr"/>
          <a:lstStyle/>
          <a:p>
            <a:pPr indent="0" marL="0">
              <a:buNone/>
            </a:pPr>
            <a:r>
              <a:rPr lang="en-US" sz="850" dirty="0">
                <a:solidFill>
                  <a:srgbClr val="6E7B8A"/>
                </a:solidFill>
                <a:latin typeface="Calibri" pitchFamily="34" charset="0"/>
                <a:ea typeface="Calibri" pitchFamily="34" charset="-122"/>
                <a:cs typeface="Calibri" pitchFamily="34" charset="-120"/>
              </a:rPr>
              <a:t>PAVE  ·  Security Engagement Operating Model  ·  How the model evolved</a:t>
            </a:r>
            <a:endParaRPr lang="en-US" sz="850" dirty="0"/>
          </a:p>
        </p:txBody>
      </p:sp>
      <p:sp>
        <p:nvSpPr>
          <p:cNvPr id="5" name="Text 3"/>
          <p:cNvSpPr/>
          <p:nvPr/>
        </p:nvSpPr>
        <p:spPr>
          <a:xfrm>
            <a:off x="11475720" y="6473952"/>
            <a:ext cx="457200" cy="274320"/>
          </a:xfrm>
          <a:prstGeom prst="rect">
            <a:avLst/>
          </a:prstGeom>
          <a:noFill/>
          <a:ln/>
        </p:spPr>
        <p:txBody>
          <a:bodyPr wrap="square" lIns="0" tIns="0" rIns="0" bIns="0" rtlCol="0" anchor="ctr"/>
          <a:lstStyle/>
          <a:p>
            <a:pPr algn="r" indent="0" marL="0">
              <a:buNone/>
            </a:pPr>
            <a:r>
              <a:rPr lang="en-US" sz="850" dirty="0">
                <a:solidFill>
                  <a:srgbClr val="6E7B8A"/>
                </a:solidFill>
                <a:latin typeface="Calibri" pitchFamily="34" charset="0"/>
                <a:ea typeface="Calibri" pitchFamily="34" charset="-122"/>
                <a:cs typeface="Calibri" pitchFamily="34" charset="-120"/>
              </a:rPr>
              <a:t>7</a:t>
            </a:r>
            <a:endParaRPr lang="en-US" sz="850" dirty="0"/>
          </a:p>
        </p:txBody>
      </p:sp>
      <p:sp>
        <p:nvSpPr>
          <p:cNvPr id="6" name="Shape 4"/>
          <p:cNvSpPr/>
          <p:nvPr/>
        </p:nvSpPr>
        <p:spPr>
          <a:xfrm>
            <a:off x="502920" y="1600200"/>
            <a:ext cx="5074920" cy="1874520"/>
          </a:xfrm>
          <a:prstGeom prst="roundRect">
            <a:avLst>
              <a:gd name="adj" fmla="val 2683"/>
            </a:avLst>
          </a:prstGeom>
          <a:solidFill>
            <a:srgbClr val="F5F7FA"/>
          </a:solidFill>
          <a:ln w="12700">
            <a:solidFill>
              <a:srgbClr val="C9D2DD"/>
            </a:solidFill>
            <a:prstDash val="solid"/>
          </a:ln>
        </p:spPr>
      </p:sp>
      <p:sp>
        <p:nvSpPr>
          <p:cNvPr id="7" name="Text 5"/>
          <p:cNvSpPr/>
          <p:nvPr/>
        </p:nvSpPr>
        <p:spPr>
          <a:xfrm>
            <a:off x="685800" y="1709928"/>
            <a:ext cx="1828800" cy="237744"/>
          </a:xfrm>
          <a:prstGeom prst="rect">
            <a:avLst/>
          </a:prstGeom>
          <a:noFill/>
          <a:ln/>
        </p:spPr>
        <p:txBody>
          <a:bodyPr wrap="square" lIns="0" tIns="0" rIns="0" bIns="0" rtlCol="0" anchor="ctr"/>
          <a:lstStyle/>
          <a:p>
            <a:pPr indent="0" marL="0">
              <a:buNone/>
            </a:pPr>
            <a:r>
              <a:rPr lang="en-US" sz="950" b="1" spc="200" kern="0" dirty="0">
                <a:solidFill>
                  <a:srgbClr val="557A95"/>
                </a:solidFill>
                <a:latin typeface="Calibri" pitchFamily="34" charset="0"/>
                <a:ea typeface="Calibri" pitchFamily="34" charset="-122"/>
                <a:cs typeface="Calibri" pitchFamily="34" charset="-120"/>
              </a:rPr>
              <a:t>THEN</a:t>
            </a:r>
            <a:endParaRPr lang="en-US" sz="950" dirty="0"/>
          </a:p>
        </p:txBody>
      </p:sp>
      <p:sp>
        <p:nvSpPr>
          <p:cNvPr id="8" name="Text 6"/>
          <p:cNvSpPr/>
          <p:nvPr/>
        </p:nvSpPr>
        <p:spPr>
          <a:xfrm>
            <a:off x="685800" y="1965960"/>
            <a:ext cx="4709160" cy="1399032"/>
          </a:xfrm>
          <a:prstGeom prst="rect">
            <a:avLst/>
          </a:prstGeom>
          <a:noFill/>
          <a:ln/>
        </p:spPr>
        <p:txBody>
          <a:bodyPr wrap="square" lIns="0" tIns="0" rIns="0" bIns="0" rtlCol="0" anchor="t"/>
          <a:lstStyle/>
          <a:p>
            <a:pPr indent="0" marL="0">
              <a:buNone/>
            </a:pPr>
            <a:r>
              <a:rPr lang="en-US" sz="1150" dirty="0">
                <a:solidFill>
                  <a:srgbClr val="30363D"/>
                </a:solidFill>
                <a:latin typeface="Calibri" pitchFamily="34" charset="0"/>
                <a:ea typeface="Calibri" pitchFamily="34" charset="-122"/>
                <a:cs typeface="Calibri" pitchFamily="34" charset="-120"/>
              </a:rPr>
              <a:t>The team attested the triage was done and still accurate. Honest teams were fine; the negligent case went unseen until assurance sampled it.</a:t>
            </a:r>
            <a:endParaRPr lang="en-US" sz="1150" dirty="0"/>
          </a:p>
        </p:txBody>
      </p:sp>
      <p:sp>
        <p:nvSpPr>
          <p:cNvPr id="9" name="Shape 7"/>
          <p:cNvSpPr/>
          <p:nvPr/>
        </p:nvSpPr>
        <p:spPr>
          <a:xfrm>
            <a:off x="5742432" y="2363724"/>
            <a:ext cx="566928" cy="347472"/>
          </a:xfrm>
          <a:prstGeom prst="rightArrow">
            <a:avLst/>
          </a:prstGeom>
          <a:solidFill>
            <a:srgbClr val="1F3A5F"/>
          </a:solidFill>
          <a:ln/>
        </p:spPr>
      </p:sp>
      <p:sp>
        <p:nvSpPr>
          <p:cNvPr id="10" name="Shape 8"/>
          <p:cNvSpPr/>
          <p:nvPr/>
        </p:nvSpPr>
        <p:spPr>
          <a:xfrm>
            <a:off x="6473952" y="1600200"/>
            <a:ext cx="5074920" cy="1874520"/>
          </a:xfrm>
          <a:prstGeom prst="roundRect">
            <a:avLst>
              <a:gd name="adj" fmla="val 2683"/>
            </a:avLst>
          </a:prstGeom>
          <a:solidFill>
            <a:srgbClr val="FFFFFF"/>
          </a:solidFill>
          <a:ln w="12700">
            <a:solidFill>
              <a:srgbClr val="C9D2DD"/>
            </a:solidFill>
            <a:prstDash val="solid"/>
          </a:ln>
        </p:spPr>
      </p:sp>
      <p:sp>
        <p:nvSpPr>
          <p:cNvPr id="11" name="Shape 9"/>
          <p:cNvSpPr/>
          <p:nvPr/>
        </p:nvSpPr>
        <p:spPr>
          <a:xfrm>
            <a:off x="6473952" y="1600200"/>
            <a:ext cx="54864" cy="1874520"/>
          </a:xfrm>
          <a:prstGeom prst="rect">
            <a:avLst/>
          </a:prstGeom>
          <a:solidFill>
            <a:srgbClr val="2A9D8C"/>
          </a:solidFill>
          <a:ln/>
        </p:spPr>
      </p:sp>
      <p:sp>
        <p:nvSpPr>
          <p:cNvPr id="12" name="Text 10"/>
          <p:cNvSpPr/>
          <p:nvPr/>
        </p:nvSpPr>
        <p:spPr>
          <a:xfrm>
            <a:off x="6675120" y="1709928"/>
            <a:ext cx="1828800" cy="237744"/>
          </a:xfrm>
          <a:prstGeom prst="rect">
            <a:avLst/>
          </a:prstGeom>
          <a:noFill/>
          <a:ln/>
        </p:spPr>
        <p:txBody>
          <a:bodyPr wrap="square" lIns="0" tIns="0" rIns="0" bIns="0" rtlCol="0" anchor="ctr"/>
          <a:lstStyle/>
          <a:p>
            <a:pPr indent="0" marL="0">
              <a:buNone/>
            </a:pPr>
            <a:r>
              <a:rPr lang="en-US" sz="950" b="1" spc="200" kern="0" dirty="0">
                <a:solidFill>
                  <a:srgbClr val="2A9D8C"/>
                </a:solidFill>
                <a:latin typeface="Calibri" pitchFamily="34" charset="0"/>
                <a:ea typeface="Calibri" pitchFamily="34" charset="-122"/>
                <a:cs typeface="Calibri" pitchFamily="34" charset="-120"/>
              </a:rPr>
              <a:t>NOW</a:t>
            </a:r>
            <a:endParaRPr lang="en-US" sz="950" dirty="0"/>
          </a:p>
        </p:txBody>
      </p:sp>
      <p:sp>
        <p:nvSpPr>
          <p:cNvPr id="13" name="Text 11"/>
          <p:cNvSpPr/>
          <p:nvPr/>
        </p:nvSpPr>
        <p:spPr>
          <a:xfrm>
            <a:off x="6675120" y="1965960"/>
            <a:ext cx="4690872" cy="1399032"/>
          </a:xfrm>
          <a:prstGeom prst="rect">
            <a:avLst/>
          </a:prstGeom>
          <a:noFill/>
          <a:ln/>
        </p:spPr>
        <p:txBody>
          <a:bodyPr wrap="square" lIns="0" tIns="0" rIns="0" bIns="0" rtlCol="0" anchor="t"/>
          <a:lstStyle/>
          <a:p>
            <a:pPr indent="0" marL="0">
              <a:buNone/>
            </a:pPr>
            <a:r>
              <a:rPr lang="en-US" sz="1150" dirty="0">
                <a:solidFill>
                  <a:srgbClr val="30363D"/>
                </a:solidFill>
                <a:latin typeface="Calibri" pitchFamily="34" charset="0"/>
                <a:ea typeface="Calibri" pitchFamily="34" charset="-122"/>
                <a:cs typeface="Calibri" pitchFamily="34" charset="-120"/>
              </a:rPr>
              <a:t>Material change is captured by signals on the artefact: code-owner paths, route and interface diffs, infrastructure and trust-boundary changes, dependencies, data schemas, new secrets or certificates.</a:t>
            </a:r>
            <a:endParaRPr lang="en-US" sz="1150" dirty="0"/>
          </a:p>
        </p:txBody>
      </p:sp>
      <p:sp>
        <p:nvSpPr>
          <p:cNvPr id="14" name="Shape 12"/>
          <p:cNvSpPr/>
          <p:nvPr/>
        </p:nvSpPr>
        <p:spPr>
          <a:xfrm>
            <a:off x="502920" y="3749040"/>
            <a:ext cx="5074920" cy="1874520"/>
          </a:xfrm>
          <a:prstGeom prst="roundRect">
            <a:avLst>
              <a:gd name="adj" fmla="val 2683"/>
            </a:avLst>
          </a:prstGeom>
          <a:solidFill>
            <a:srgbClr val="F5F7FA"/>
          </a:solidFill>
          <a:ln w="12700">
            <a:solidFill>
              <a:srgbClr val="C9D2DD"/>
            </a:solidFill>
            <a:prstDash val="solid"/>
          </a:ln>
        </p:spPr>
      </p:sp>
      <p:sp>
        <p:nvSpPr>
          <p:cNvPr id="15" name="Text 13"/>
          <p:cNvSpPr/>
          <p:nvPr/>
        </p:nvSpPr>
        <p:spPr>
          <a:xfrm>
            <a:off x="685800" y="3858768"/>
            <a:ext cx="1828800" cy="237744"/>
          </a:xfrm>
          <a:prstGeom prst="rect">
            <a:avLst/>
          </a:prstGeom>
          <a:noFill/>
          <a:ln/>
        </p:spPr>
        <p:txBody>
          <a:bodyPr wrap="square" lIns="0" tIns="0" rIns="0" bIns="0" rtlCol="0" anchor="ctr"/>
          <a:lstStyle/>
          <a:p>
            <a:pPr indent="0" marL="0">
              <a:buNone/>
            </a:pPr>
            <a:r>
              <a:rPr lang="en-US" sz="950" b="1" spc="200" kern="0" dirty="0">
                <a:solidFill>
                  <a:srgbClr val="557A95"/>
                </a:solidFill>
                <a:latin typeface="Calibri" pitchFamily="34" charset="0"/>
                <a:ea typeface="Calibri" pitchFamily="34" charset="-122"/>
                <a:cs typeface="Calibri" pitchFamily="34" charset="-120"/>
              </a:rPr>
              <a:t>THEN</a:t>
            </a:r>
            <a:endParaRPr lang="en-US" sz="950" dirty="0"/>
          </a:p>
        </p:txBody>
      </p:sp>
      <p:sp>
        <p:nvSpPr>
          <p:cNvPr id="16" name="Text 14"/>
          <p:cNvSpPr/>
          <p:nvPr/>
        </p:nvSpPr>
        <p:spPr>
          <a:xfrm>
            <a:off x="685800" y="4114800"/>
            <a:ext cx="4709160" cy="1399032"/>
          </a:xfrm>
          <a:prstGeom prst="rect">
            <a:avLst/>
          </a:prstGeom>
          <a:noFill/>
          <a:ln/>
        </p:spPr>
        <p:txBody>
          <a:bodyPr wrap="square" lIns="0" tIns="0" rIns="0" bIns="0" rtlCol="0" anchor="t"/>
          <a:lstStyle/>
          <a:p>
            <a:pPr indent="0" marL="0">
              <a:buNone/>
            </a:pPr>
            <a:r>
              <a:rPr lang="en-US" sz="1150" dirty="0">
                <a:solidFill>
                  <a:srgbClr val="30363D"/>
                </a:solidFill>
                <a:latin typeface="Calibri" pitchFamily="34" charset="0"/>
                <a:ea typeface="Calibri" pitchFamily="34" charset="-122"/>
                <a:cs typeface="Calibri" pitchFamily="34" charset="-120"/>
              </a:rPr>
              <a:t>Coverage was chased by hand and attested in a checklist tick.</a:t>
            </a:r>
            <a:endParaRPr lang="en-US" sz="1150" dirty="0"/>
          </a:p>
        </p:txBody>
      </p:sp>
      <p:sp>
        <p:nvSpPr>
          <p:cNvPr id="17" name="Shape 15"/>
          <p:cNvSpPr/>
          <p:nvPr/>
        </p:nvSpPr>
        <p:spPr>
          <a:xfrm>
            <a:off x="5742432" y="4512564"/>
            <a:ext cx="566928" cy="347472"/>
          </a:xfrm>
          <a:prstGeom prst="rightArrow">
            <a:avLst/>
          </a:prstGeom>
          <a:solidFill>
            <a:srgbClr val="1F3A5F"/>
          </a:solidFill>
          <a:ln/>
        </p:spPr>
      </p:sp>
      <p:sp>
        <p:nvSpPr>
          <p:cNvPr id="18" name="Shape 16"/>
          <p:cNvSpPr/>
          <p:nvPr/>
        </p:nvSpPr>
        <p:spPr>
          <a:xfrm>
            <a:off x="6473952" y="3749040"/>
            <a:ext cx="5074920" cy="1874520"/>
          </a:xfrm>
          <a:prstGeom prst="roundRect">
            <a:avLst>
              <a:gd name="adj" fmla="val 2683"/>
            </a:avLst>
          </a:prstGeom>
          <a:solidFill>
            <a:srgbClr val="FFFFFF"/>
          </a:solidFill>
          <a:ln w="12700">
            <a:solidFill>
              <a:srgbClr val="C9D2DD"/>
            </a:solidFill>
            <a:prstDash val="solid"/>
          </a:ln>
        </p:spPr>
      </p:sp>
      <p:sp>
        <p:nvSpPr>
          <p:cNvPr id="19" name="Shape 17"/>
          <p:cNvSpPr/>
          <p:nvPr/>
        </p:nvSpPr>
        <p:spPr>
          <a:xfrm>
            <a:off x="6473952" y="3749040"/>
            <a:ext cx="54864" cy="1874520"/>
          </a:xfrm>
          <a:prstGeom prst="rect">
            <a:avLst/>
          </a:prstGeom>
          <a:solidFill>
            <a:srgbClr val="2A9D8C"/>
          </a:solidFill>
          <a:ln/>
        </p:spPr>
      </p:sp>
      <p:sp>
        <p:nvSpPr>
          <p:cNvPr id="20" name="Text 18"/>
          <p:cNvSpPr/>
          <p:nvPr/>
        </p:nvSpPr>
        <p:spPr>
          <a:xfrm>
            <a:off x="6675120" y="3858768"/>
            <a:ext cx="1828800" cy="237744"/>
          </a:xfrm>
          <a:prstGeom prst="rect">
            <a:avLst/>
          </a:prstGeom>
          <a:noFill/>
          <a:ln/>
        </p:spPr>
        <p:txBody>
          <a:bodyPr wrap="square" lIns="0" tIns="0" rIns="0" bIns="0" rtlCol="0" anchor="ctr"/>
          <a:lstStyle/>
          <a:p>
            <a:pPr indent="0" marL="0">
              <a:buNone/>
            </a:pPr>
            <a:r>
              <a:rPr lang="en-US" sz="950" b="1" spc="200" kern="0" dirty="0">
                <a:solidFill>
                  <a:srgbClr val="2A9D8C"/>
                </a:solidFill>
                <a:latin typeface="Calibri" pitchFamily="34" charset="0"/>
                <a:ea typeface="Calibri" pitchFamily="34" charset="-122"/>
                <a:cs typeface="Calibri" pitchFamily="34" charset="-120"/>
              </a:rPr>
              <a:t>NOW</a:t>
            </a:r>
            <a:endParaRPr lang="en-US" sz="950" dirty="0"/>
          </a:p>
        </p:txBody>
      </p:sp>
      <p:sp>
        <p:nvSpPr>
          <p:cNvPr id="21" name="Text 19"/>
          <p:cNvSpPr/>
          <p:nvPr/>
        </p:nvSpPr>
        <p:spPr>
          <a:xfrm>
            <a:off x="6675120" y="4114800"/>
            <a:ext cx="4690872" cy="1399032"/>
          </a:xfrm>
          <a:prstGeom prst="rect">
            <a:avLst/>
          </a:prstGeom>
          <a:noFill/>
          <a:ln/>
        </p:spPr>
        <p:txBody>
          <a:bodyPr wrap="square" lIns="0" tIns="0" rIns="0" bIns="0" rtlCol="0" anchor="t"/>
          <a:lstStyle/>
          <a:p>
            <a:pPr indent="0" marL="0">
              <a:buNone/>
            </a:pPr>
            <a:r>
              <a:rPr lang="en-US" sz="1150" dirty="0">
                <a:solidFill>
                  <a:srgbClr val="30363D"/>
                </a:solidFill>
                <a:latin typeface="Calibri" pitchFamily="34" charset="0"/>
                <a:ea typeface="Calibri" pitchFamily="34" charset="-122"/>
                <a:cs typeface="Calibri" pitchFamily="34" charset="-120"/>
              </a:rPr>
              <a:t>A fail-closed status check: a T1-or-higher pull request without a current triage cannot merge. An in-envelope change is auto-stamped; the low-effort path is the compliant one.</a:t>
            </a:r>
            <a:endParaRPr lang="en-US" sz="1150" dirty="0"/>
          </a:p>
        </p:txBody>
      </p:sp>
      <p:sp>
        <p:nvSpPr>
          <p:cNvPr id="22" name="Shape 20"/>
          <p:cNvSpPr/>
          <p:nvPr/>
        </p:nvSpPr>
        <p:spPr>
          <a:xfrm>
            <a:off x="502920" y="5779008"/>
            <a:ext cx="11183112" cy="685800"/>
          </a:xfrm>
          <a:prstGeom prst="rect">
            <a:avLst/>
          </a:prstGeom>
          <a:solidFill>
            <a:srgbClr val="FCF6EC"/>
          </a:solidFill>
          <a:ln w="9525">
            <a:solidFill>
              <a:srgbClr val="E0A458"/>
            </a:solidFill>
            <a:prstDash val="solid"/>
          </a:ln>
        </p:spPr>
      </p:sp>
      <p:sp>
        <p:nvSpPr>
          <p:cNvPr id="23" name="Shape 21"/>
          <p:cNvSpPr/>
          <p:nvPr/>
        </p:nvSpPr>
        <p:spPr>
          <a:xfrm>
            <a:off x="502920" y="5779008"/>
            <a:ext cx="50292" cy="685800"/>
          </a:xfrm>
          <a:prstGeom prst="rect">
            <a:avLst/>
          </a:prstGeom>
          <a:solidFill>
            <a:srgbClr val="E0A458"/>
          </a:solidFill>
          <a:ln/>
        </p:spPr>
      </p:sp>
      <p:sp>
        <p:nvSpPr>
          <p:cNvPr id="24" name="Text 22"/>
          <p:cNvSpPr/>
          <p:nvPr/>
        </p:nvSpPr>
        <p:spPr>
          <a:xfrm>
            <a:off x="649224" y="5833872"/>
            <a:ext cx="10908792" cy="576072"/>
          </a:xfrm>
          <a:prstGeom prst="rect">
            <a:avLst/>
          </a:prstGeom>
          <a:noFill/>
          <a:ln/>
        </p:spPr>
        <p:txBody>
          <a:bodyPr wrap="square" lIns="0" tIns="0" rIns="0" bIns="0" rtlCol="0" anchor="ctr"/>
          <a:lstStyle/>
          <a:p>
            <a:pPr indent="0" marL="0">
              <a:buNone/>
            </a:pPr>
            <a:r>
              <a:rPr lang="en-US" sz="1050" b="1" dirty="0">
                <a:solidFill>
                  <a:srgbClr val="9A6A1E"/>
                </a:solidFill>
                <a:latin typeface="Calibri" pitchFamily="34" charset="0"/>
                <a:ea typeface="Calibri" pitchFamily="34" charset="-122"/>
                <a:cs typeface="Calibri" pitchFamily="34" charset="-120"/>
              </a:rPr>
              <a:t>The honest residual.  </a:t>
            </a:r>
            <a:pPr indent="0" marL="0">
              <a:buNone/>
            </a:pPr>
            <a:r>
              <a:rPr lang="en-US" sz="1050" dirty="0">
                <a:solidFill>
                  <a:srgbClr val="30363D"/>
                </a:solidFill>
                <a:latin typeface="Calibri" pitchFamily="34" charset="0"/>
                <a:ea typeface="Calibri" pitchFamily="34" charset="-122"/>
                <a:cs typeface="Calibri" pitchFamily="34" charset="-120"/>
              </a:rPr>
              <a:t>A purely behavioural change that touches no instrumented path can pass; detection and sampling reduce that residual, and the gate pilots in report-only mode first.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10607040" cy="566928"/>
          </a:xfrm>
          <a:prstGeom prst="rect">
            <a:avLst/>
          </a:prstGeom>
          <a:noFill/>
          <a:ln/>
        </p:spPr>
        <p:txBody>
          <a:bodyPr wrap="square" lIns="0" tIns="0" rIns="0" bIns="0" rtlCol="0" anchor="ctr"/>
          <a:lstStyle/>
          <a:p>
            <a:pPr indent="0" marL="0">
              <a:buNone/>
            </a:pPr>
            <a:r>
              <a:rPr lang="en-US" sz="2600" b="1" dirty="0">
                <a:solidFill>
                  <a:srgbClr val="1F3A5F"/>
                </a:solidFill>
                <a:latin typeface="Calibri" pitchFamily="34" charset="0"/>
                <a:ea typeface="Calibri" pitchFamily="34" charset="-122"/>
                <a:cs typeface="Calibri" pitchFamily="34" charset="-120"/>
              </a:rPr>
              <a:t>How the gate checks a triage</a:t>
            </a:r>
            <a:endParaRPr lang="en-US" sz="2600" dirty="0"/>
          </a:p>
        </p:txBody>
      </p:sp>
      <p:sp>
        <p:nvSpPr>
          <p:cNvPr id="3" name="Text 1"/>
          <p:cNvSpPr/>
          <p:nvPr/>
        </p:nvSpPr>
        <p:spPr>
          <a:xfrm>
            <a:off x="521208" y="859536"/>
            <a:ext cx="10607040" cy="274320"/>
          </a:xfrm>
          <a:prstGeom prst="rect">
            <a:avLst/>
          </a:prstGeom>
          <a:noFill/>
          <a:ln/>
        </p:spPr>
        <p:txBody>
          <a:bodyPr wrap="square" lIns="0" tIns="0" rIns="0" bIns="0" rtlCol="0" anchor="ctr"/>
          <a:lstStyle/>
          <a:p>
            <a:pPr indent="0" marL="0">
              <a:buNone/>
            </a:pPr>
            <a:r>
              <a:rPr lang="en-US" sz="1050" b="1" spc="300" kern="0" dirty="0">
                <a:solidFill>
                  <a:srgbClr val="2A9D8C"/>
                </a:solidFill>
                <a:latin typeface="Calibri" pitchFamily="34" charset="0"/>
                <a:ea typeface="Calibri" pitchFamily="34" charset="-122"/>
                <a:cs typeface="Calibri" pitchFamily="34" charset="-120"/>
              </a:rPr>
              <a:t>WHAT ACTUALLY HAPPENS ON EVERY PULL REQUEST</a:t>
            </a:r>
            <a:endParaRPr lang="en-US" sz="1050" dirty="0"/>
          </a:p>
        </p:txBody>
      </p:sp>
      <p:sp>
        <p:nvSpPr>
          <p:cNvPr id="4" name="Text 2"/>
          <p:cNvSpPr/>
          <p:nvPr/>
        </p:nvSpPr>
        <p:spPr>
          <a:xfrm>
            <a:off x="502920" y="6473952"/>
            <a:ext cx="8686800" cy="274320"/>
          </a:xfrm>
          <a:prstGeom prst="rect">
            <a:avLst/>
          </a:prstGeom>
          <a:noFill/>
          <a:ln/>
        </p:spPr>
        <p:txBody>
          <a:bodyPr wrap="square" lIns="0" tIns="0" rIns="0" bIns="0" rtlCol="0" anchor="ctr"/>
          <a:lstStyle/>
          <a:p>
            <a:pPr indent="0" marL="0">
              <a:buNone/>
            </a:pPr>
            <a:r>
              <a:rPr lang="en-US" sz="850" dirty="0">
                <a:solidFill>
                  <a:srgbClr val="6E7B8A"/>
                </a:solidFill>
                <a:latin typeface="Calibri" pitchFamily="34" charset="0"/>
                <a:ea typeface="Calibri" pitchFamily="34" charset="-122"/>
                <a:cs typeface="Calibri" pitchFamily="34" charset="-120"/>
              </a:rPr>
              <a:t>PAVE  ·  Security Engagement Operating Model  ·  How the model evolved</a:t>
            </a:r>
            <a:endParaRPr lang="en-US" sz="850" dirty="0"/>
          </a:p>
        </p:txBody>
      </p:sp>
      <p:sp>
        <p:nvSpPr>
          <p:cNvPr id="5" name="Text 3"/>
          <p:cNvSpPr/>
          <p:nvPr/>
        </p:nvSpPr>
        <p:spPr>
          <a:xfrm>
            <a:off x="11475720" y="6473952"/>
            <a:ext cx="457200" cy="274320"/>
          </a:xfrm>
          <a:prstGeom prst="rect">
            <a:avLst/>
          </a:prstGeom>
          <a:noFill/>
          <a:ln/>
        </p:spPr>
        <p:txBody>
          <a:bodyPr wrap="square" lIns="0" tIns="0" rIns="0" bIns="0" rtlCol="0" anchor="ctr"/>
          <a:lstStyle/>
          <a:p>
            <a:pPr algn="r" indent="0" marL="0">
              <a:buNone/>
            </a:pPr>
            <a:r>
              <a:rPr lang="en-US" sz="850" dirty="0">
                <a:solidFill>
                  <a:srgbClr val="6E7B8A"/>
                </a:solidFill>
                <a:latin typeface="Calibri" pitchFamily="34" charset="0"/>
                <a:ea typeface="Calibri" pitchFamily="34" charset="-122"/>
                <a:cs typeface="Calibri" pitchFamily="34" charset="-120"/>
              </a:rPr>
              <a:t>8</a:t>
            </a:r>
            <a:endParaRPr lang="en-US" sz="850" dirty="0"/>
          </a:p>
        </p:txBody>
      </p:sp>
      <p:sp>
        <p:nvSpPr>
          <p:cNvPr id="6" name="Shape 4"/>
          <p:cNvSpPr/>
          <p:nvPr/>
        </p:nvSpPr>
        <p:spPr>
          <a:xfrm>
            <a:off x="502920" y="1508760"/>
            <a:ext cx="3703320" cy="1828800"/>
          </a:xfrm>
          <a:prstGeom prst="roundRect">
            <a:avLst>
              <a:gd name="adj" fmla="val 2750"/>
            </a:avLst>
          </a:prstGeom>
          <a:solidFill>
            <a:srgbClr val="FFFFFF"/>
          </a:solidFill>
          <a:ln w="12700">
            <a:solidFill>
              <a:srgbClr val="C9D2DD"/>
            </a:solidFill>
            <a:prstDash val="solid"/>
          </a:ln>
        </p:spPr>
      </p:sp>
      <p:sp>
        <p:nvSpPr>
          <p:cNvPr id="7" name="Shape 5"/>
          <p:cNvSpPr/>
          <p:nvPr/>
        </p:nvSpPr>
        <p:spPr>
          <a:xfrm>
            <a:off x="649224" y="1655064"/>
            <a:ext cx="384048" cy="384048"/>
          </a:xfrm>
          <a:prstGeom prst="ellipse">
            <a:avLst/>
          </a:prstGeom>
          <a:solidFill>
            <a:srgbClr val="1F3A5F"/>
          </a:solidFill>
          <a:ln/>
        </p:spPr>
      </p:sp>
      <p:sp>
        <p:nvSpPr>
          <p:cNvPr id="8" name="Text 6"/>
          <p:cNvSpPr/>
          <p:nvPr/>
        </p:nvSpPr>
        <p:spPr>
          <a:xfrm>
            <a:off x="649224" y="16550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143000" y="1691640"/>
            <a:ext cx="2926080" cy="329184"/>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Pull request opened</a:t>
            </a:r>
            <a:endParaRPr lang="en-US" sz="1250" dirty="0"/>
          </a:p>
        </p:txBody>
      </p:sp>
      <p:sp>
        <p:nvSpPr>
          <p:cNvPr id="10" name="Text 8"/>
          <p:cNvSpPr/>
          <p:nvPr/>
        </p:nvSpPr>
        <p:spPr>
          <a:xfrm>
            <a:off x="667512" y="2130552"/>
            <a:ext cx="3374136" cy="1078992"/>
          </a:xfrm>
          <a:prstGeom prst="rect">
            <a:avLst/>
          </a:prstGeom>
          <a:noFill/>
          <a:ln/>
        </p:spPr>
        <p:txBody>
          <a:bodyPr wrap="square" lIns="0" tIns="0" rIns="0" bIns="0" rtlCol="0" anchor="t"/>
          <a:lstStyle/>
          <a:p>
            <a:pPr indent="0" marL="0">
              <a:buNone/>
            </a:pPr>
            <a:r>
              <a:rPr lang="en-US" sz="1040" dirty="0">
                <a:solidFill>
                  <a:srgbClr val="30363D"/>
                </a:solidFill>
                <a:latin typeface="Calibri" pitchFamily="34" charset="0"/>
                <a:ea typeface="Calibri" pitchFamily="34" charset="-122"/>
                <a:cs typeface="Calibri" pitchFamily="34" charset="-120"/>
              </a:rPr>
              <a:t>Any T1-or-higher change. The required status check runs automatically; there is nothing for the author to remember.</a:t>
            </a:r>
            <a:endParaRPr lang="en-US" sz="1040" dirty="0"/>
          </a:p>
        </p:txBody>
      </p:sp>
      <p:sp>
        <p:nvSpPr>
          <p:cNvPr id="11" name="Shape 9"/>
          <p:cNvSpPr/>
          <p:nvPr/>
        </p:nvSpPr>
        <p:spPr>
          <a:xfrm>
            <a:off x="4233672" y="2286000"/>
            <a:ext cx="192024" cy="274320"/>
          </a:xfrm>
          <a:prstGeom prst="rightArrow">
            <a:avLst/>
          </a:prstGeom>
          <a:solidFill>
            <a:srgbClr val="6E7B8A"/>
          </a:solidFill>
          <a:ln/>
        </p:spPr>
      </p:sp>
      <p:sp>
        <p:nvSpPr>
          <p:cNvPr id="12" name="Shape 10"/>
          <p:cNvSpPr/>
          <p:nvPr/>
        </p:nvSpPr>
        <p:spPr>
          <a:xfrm>
            <a:off x="4434840" y="1508760"/>
            <a:ext cx="3703320" cy="1828800"/>
          </a:xfrm>
          <a:prstGeom prst="roundRect">
            <a:avLst>
              <a:gd name="adj" fmla="val 2750"/>
            </a:avLst>
          </a:prstGeom>
          <a:solidFill>
            <a:srgbClr val="FFFFFF"/>
          </a:solidFill>
          <a:ln w="12700">
            <a:solidFill>
              <a:srgbClr val="C9D2DD"/>
            </a:solidFill>
            <a:prstDash val="solid"/>
          </a:ln>
        </p:spPr>
      </p:sp>
      <p:sp>
        <p:nvSpPr>
          <p:cNvPr id="13" name="Shape 11"/>
          <p:cNvSpPr/>
          <p:nvPr/>
        </p:nvSpPr>
        <p:spPr>
          <a:xfrm>
            <a:off x="4581144" y="1655064"/>
            <a:ext cx="384048" cy="384048"/>
          </a:xfrm>
          <a:prstGeom prst="ellipse">
            <a:avLst/>
          </a:prstGeom>
          <a:solidFill>
            <a:srgbClr val="1F3A5F"/>
          </a:solidFill>
          <a:ln/>
        </p:spPr>
      </p:sp>
      <p:sp>
        <p:nvSpPr>
          <p:cNvPr id="14" name="Text 12"/>
          <p:cNvSpPr/>
          <p:nvPr/>
        </p:nvSpPr>
        <p:spPr>
          <a:xfrm>
            <a:off x="4581144" y="16550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5074920" y="1691640"/>
            <a:ext cx="2926080" cy="329184"/>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Parent resolved</a:t>
            </a:r>
            <a:endParaRPr lang="en-US" sz="1250" dirty="0"/>
          </a:p>
        </p:txBody>
      </p:sp>
      <p:sp>
        <p:nvSpPr>
          <p:cNvPr id="16" name="Text 14"/>
          <p:cNvSpPr/>
          <p:nvPr/>
        </p:nvSpPr>
        <p:spPr>
          <a:xfrm>
            <a:off x="4599432" y="2130552"/>
            <a:ext cx="3374136" cy="1078992"/>
          </a:xfrm>
          <a:prstGeom prst="rect">
            <a:avLst/>
          </a:prstGeom>
          <a:noFill/>
          <a:ln/>
        </p:spPr>
        <p:txBody>
          <a:bodyPr wrap="square" lIns="0" tIns="0" rIns="0" bIns="0" rtlCol="0" anchor="t"/>
          <a:lstStyle/>
          <a:p>
            <a:pPr indent="0" marL="0">
              <a:buNone/>
            </a:pPr>
            <a:r>
              <a:rPr lang="en-US" sz="1040" dirty="0">
                <a:solidFill>
                  <a:srgbClr val="30363D"/>
                </a:solidFill>
                <a:latin typeface="Calibri" pitchFamily="34" charset="0"/>
                <a:ea typeface="Calibri" pitchFamily="34" charset="-122"/>
                <a:cs typeface="Calibri" pitchFamily="34" charset="-120"/>
              </a:rPr>
              <a:t>The check follows the linked triage to its live parent and loads the scope envelope the parent recorded.</a:t>
            </a:r>
            <a:endParaRPr lang="en-US" sz="1040" dirty="0"/>
          </a:p>
        </p:txBody>
      </p:sp>
      <p:sp>
        <p:nvSpPr>
          <p:cNvPr id="17" name="Shape 15"/>
          <p:cNvSpPr/>
          <p:nvPr/>
        </p:nvSpPr>
        <p:spPr>
          <a:xfrm>
            <a:off x="8165592" y="2286000"/>
            <a:ext cx="192024" cy="274320"/>
          </a:xfrm>
          <a:prstGeom prst="rightArrow">
            <a:avLst/>
          </a:prstGeom>
          <a:solidFill>
            <a:srgbClr val="6E7B8A"/>
          </a:solidFill>
          <a:ln/>
        </p:spPr>
      </p:sp>
      <p:sp>
        <p:nvSpPr>
          <p:cNvPr id="18" name="Shape 16"/>
          <p:cNvSpPr/>
          <p:nvPr/>
        </p:nvSpPr>
        <p:spPr>
          <a:xfrm>
            <a:off x="8366760" y="1508760"/>
            <a:ext cx="3703320" cy="1828800"/>
          </a:xfrm>
          <a:prstGeom prst="roundRect">
            <a:avLst>
              <a:gd name="adj" fmla="val 2750"/>
            </a:avLst>
          </a:prstGeom>
          <a:solidFill>
            <a:srgbClr val="FFFFFF"/>
          </a:solidFill>
          <a:ln w="12700">
            <a:solidFill>
              <a:srgbClr val="C9D2DD"/>
            </a:solidFill>
            <a:prstDash val="solid"/>
          </a:ln>
        </p:spPr>
      </p:sp>
      <p:sp>
        <p:nvSpPr>
          <p:cNvPr id="19" name="Shape 17"/>
          <p:cNvSpPr/>
          <p:nvPr/>
        </p:nvSpPr>
        <p:spPr>
          <a:xfrm>
            <a:off x="8513064" y="1655064"/>
            <a:ext cx="384048" cy="384048"/>
          </a:xfrm>
          <a:prstGeom prst="ellipse">
            <a:avLst/>
          </a:prstGeom>
          <a:solidFill>
            <a:srgbClr val="1F3A5F"/>
          </a:solidFill>
          <a:ln/>
        </p:spPr>
      </p:sp>
      <p:sp>
        <p:nvSpPr>
          <p:cNvPr id="20" name="Text 18"/>
          <p:cNvSpPr/>
          <p:nvPr/>
        </p:nvSpPr>
        <p:spPr>
          <a:xfrm>
            <a:off x="8513064" y="16550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p:nvPr/>
        </p:nvSpPr>
        <p:spPr>
          <a:xfrm>
            <a:off x="9006840" y="1691640"/>
            <a:ext cx="2926080" cy="329184"/>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Diff reconciled</a:t>
            </a:r>
            <a:endParaRPr lang="en-US" sz="1250" dirty="0"/>
          </a:p>
        </p:txBody>
      </p:sp>
      <p:sp>
        <p:nvSpPr>
          <p:cNvPr id="22" name="Text 20"/>
          <p:cNvSpPr/>
          <p:nvPr/>
        </p:nvSpPr>
        <p:spPr>
          <a:xfrm>
            <a:off x="8531352" y="2130552"/>
            <a:ext cx="3374136" cy="1078992"/>
          </a:xfrm>
          <a:prstGeom prst="rect">
            <a:avLst/>
          </a:prstGeom>
          <a:noFill/>
          <a:ln/>
        </p:spPr>
        <p:txBody>
          <a:bodyPr wrap="square" lIns="0" tIns="0" rIns="0" bIns="0" rtlCol="0" anchor="t"/>
          <a:lstStyle/>
          <a:p>
            <a:pPr indent="0" marL="0">
              <a:buNone/>
            </a:pPr>
            <a:r>
              <a:rPr lang="en-US" sz="1040" dirty="0">
                <a:solidFill>
                  <a:srgbClr val="30363D"/>
                </a:solidFill>
                <a:latin typeface="Calibri" pitchFamily="34" charset="0"/>
                <a:ea typeface="Calibri" pitchFamily="34" charset="-122"/>
                <a:cs typeface="Calibri" pitchFamily="34" charset="-120"/>
              </a:rPr>
              <a:t>The pull-request diff is compared to the envelope using the signals: code-owner paths, route and interface diffs, infrastructure and trust-boundary changes, dependencies, schemas, secrets.</a:t>
            </a:r>
            <a:endParaRPr lang="en-US" sz="1040" dirty="0"/>
          </a:p>
        </p:txBody>
      </p:sp>
      <p:sp>
        <p:nvSpPr>
          <p:cNvPr id="23" name="Text 21"/>
          <p:cNvSpPr/>
          <p:nvPr/>
        </p:nvSpPr>
        <p:spPr>
          <a:xfrm>
            <a:off x="521208" y="3520440"/>
            <a:ext cx="7315200" cy="274320"/>
          </a:xfrm>
          <a:prstGeom prst="rect">
            <a:avLst/>
          </a:prstGeom>
          <a:noFill/>
          <a:ln/>
        </p:spPr>
        <p:txBody>
          <a:bodyPr wrap="square" lIns="0" tIns="0" rIns="0" bIns="0" rtlCol="0" anchor="ctr"/>
          <a:lstStyle/>
          <a:p>
            <a:pPr indent="0" marL="0">
              <a:buNone/>
            </a:pPr>
            <a:r>
              <a:rPr lang="en-US" sz="1050" b="1" spc="200" kern="0" dirty="0">
                <a:solidFill>
                  <a:srgbClr val="1F3A5F"/>
                </a:solidFill>
                <a:latin typeface="Calibri" pitchFamily="34" charset="0"/>
                <a:ea typeface="Calibri" pitchFamily="34" charset="-122"/>
                <a:cs typeface="Calibri" pitchFamily="34" charset="-120"/>
              </a:rPr>
              <a:t>4   ONE OF THREE OUTCOMES</a:t>
            </a:r>
            <a:endParaRPr lang="en-US" sz="1050" dirty="0"/>
          </a:p>
        </p:txBody>
      </p:sp>
      <p:sp>
        <p:nvSpPr>
          <p:cNvPr id="24" name="Shape 22"/>
          <p:cNvSpPr/>
          <p:nvPr/>
        </p:nvSpPr>
        <p:spPr>
          <a:xfrm>
            <a:off x="502920" y="3840480"/>
            <a:ext cx="3703320" cy="1417320"/>
          </a:xfrm>
          <a:prstGeom prst="roundRect">
            <a:avLst>
              <a:gd name="adj" fmla="val 3548"/>
            </a:avLst>
          </a:prstGeom>
          <a:solidFill>
            <a:srgbClr val="FFFFFF"/>
          </a:solidFill>
          <a:ln w="12700">
            <a:solidFill>
              <a:srgbClr val="C9D2DD"/>
            </a:solidFill>
            <a:prstDash val="solid"/>
          </a:ln>
        </p:spPr>
      </p:sp>
      <p:sp>
        <p:nvSpPr>
          <p:cNvPr id="25" name="Shape 23"/>
          <p:cNvSpPr/>
          <p:nvPr/>
        </p:nvSpPr>
        <p:spPr>
          <a:xfrm>
            <a:off x="502920" y="3840480"/>
            <a:ext cx="54864" cy="1417320"/>
          </a:xfrm>
          <a:prstGeom prst="rect">
            <a:avLst/>
          </a:prstGeom>
          <a:solidFill>
            <a:srgbClr val="B5293A"/>
          </a:solidFill>
          <a:ln/>
        </p:spPr>
      </p:sp>
      <p:sp>
        <p:nvSpPr>
          <p:cNvPr id="26" name="Text 24"/>
          <p:cNvSpPr/>
          <p:nvPr/>
        </p:nvSpPr>
        <p:spPr>
          <a:xfrm>
            <a:off x="685800" y="3950208"/>
            <a:ext cx="3337560" cy="329184"/>
          </a:xfrm>
          <a:prstGeom prst="rect">
            <a:avLst/>
          </a:prstGeom>
          <a:noFill/>
          <a:ln/>
        </p:spPr>
        <p:txBody>
          <a:bodyPr wrap="square" lIns="0" tIns="0" rIns="0" bIns="0" rtlCol="0" anchor="ctr"/>
          <a:lstStyle/>
          <a:p>
            <a:pPr indent="0" marL="0">
              <a:buNone/>
            </a:pPr>
            <a:r>
              <a:rPr lang="en-US" sz="1200" b="1" dirty="0">
                <a:solidFill>
                  <a:srgbClr val="B5293A"/>
                </a:solidFill>
                <a:latin typeface="Calibri" pitchFamily="34" charset="0"/>
                <a:ea typeface="Calibri" pitchFamily="34" charset="-122"/>
                <a:cs typeface="Calibri" pitchFamily="34" charset="-120"/>
              </a:rPr>
              <a:t>No current triage</a:t>
            </a:r>
            <a:endParaRPr lang="en-US" sz="1200" dirty="0"/>
          </a:p>
        </p:txBody>
      </p:sp>
      <p:sp>
        <p:nvSpPr>
          <p:cNvPr id="27" name="Text 25"/>
          <p:cNvSpPr/>
          <p:nvPr/>
        </p:nvSpPr>
        <p:spPr>
          <a:xfrm>
            <a:off x="685800" y="4297680"/>
            <a:ext cx="3337560" cy="850392"/>
          </a:xfrm>
          <a:prstGeom prst="rect">
            <a:avLst/>
          </a:prstGeom>
          <a:noFill/>
          <a:ln/>
        </p:spPr>
        <p:txBody>
          <a:bodyPr wrap="square" lIns="0" tIns="0" rIns="0" bIns="0" rtlCol="0" anchor="t"/>
          <a:lstStyle/>
          <a:p>
            <a:pPr indent="0" marL="0">
              <a:buNone/>
            </a:pPr>
            <a:r>
              <a:rPr lang="en-US" sz="1020" dirty="0">
                <a:solidFill>
                  <a:srgbClr val="30363D"/>
                </a:solidFill>
                <a:latin typeface="Calibri" pitchFamily="34" charset="0"/>
                <a:ea typeface="Calibri" pitchFamily="34" charset="-122"/>
                <a:cs typeface="Calibri" pitchFamily="34" charset="-120"/>
              </a:rPr>
              <a:t>The check fails and the merge is blocked. Fail-closed: doing nothing stops the work, it does not let it through.</a:t>
            </a:r>
            <a:endParaRPr lang="en-US" sz="1020" dirty="0"/>
          </a:p>
        </p:txBody>
      </p:sp>
      <p:sp>
        <p:nvSpPr>
          <p:cNvPr id="28" name="Shape 26"/>
          <p:cNvSpPr/>
          <p:nvPr/>
        </p:nvSpPr>
        <p:spPr>
          <a:xfrm>
            <a:off x="4434840" y="3840480"/>
            <a:ext cx="3703320" cy="1417320"/>
          </a:xfrm>
          <a:prstGeom prst="roundRect">
            <a:avLst>
              <a:gd name="adj" fmla="val 3548"/>
            </a:avLst>
          </a:prstGeom>
          <a:solidFill>
            <a:srgbClr val="FFFFFF"/>
          </a:solidFill>
          <a:ln w="12700">
            <a:solidFill>
              <a:srgbClr val="C9D2DD"/>
            </a:solidFill>
            <a:prstDash val="solid"/>
          </a:ln>
        </p:spPr>
      </p:sp>
      <p:sp>
        <p:nvSpPr>
          <p:cNvPr id="29" name="Shape 27"/>
          <p:cNvSpPr/>
          <p:nvPr/>
        </p:nvSpPr>
        <p:spPr>
          <a:xfrm>
            <a:off x="4434840" y="3840480"/>
            <a:ext cx="54864" cy="1417320"/>
          </a:xfrm>
          <a:prstGeom prst="rect">
            <a:avLst/>
          </a:prstGeom>
          <a:solidFill>
            <a:srgbClr val="E0A458"/>
          </a:solidFill>
          <a:ln/>
        </p:spPr>
      </p:sp>
      <p:sp>
        <p:nvSpPr>
          <p:cNvPr id="30" name="Text 28"/>
          <p:cNvSpPr/>
          <p:nvPr/>
        </p:nvSpPr>
        <p:spPr>
          <a:xfrm>
            <a:off x="4617720" y="3950208"/>
            <a:ext cx="3337560" cy="329184"/>
          </a:xfrm>
          <a:prstGeom prst="rect">
            <a:avLst/>
          </a:prstGeom>
          <a:noFill/>
          <a:ln/>
        </p:spPr>
        <p:txBody>
          <a:bodyPr wrap="square" lIns="0" tIns="0" rIns="0" bIns="0" rtlCol="0" anchor="ctr"/>
          <a:lstStyle/>
          <a:p>
            <a:pPr indent="0" marL="0">
              <a:buNone/>
            </a:pPr>
            <a:r>
              <a:rPr lang="en-US" sz="1200" b="1" dirty="0">
                <a:solidFill>
                  <a:srgbClr val="9A6A1E"/>
                </a:solidFill>
                <a:latin typeface="Calibri" pitchFamily="34" charset="0"/>
                <a:ea typeface="Calibri" pitchFamily="34" charset="-122"/>
                <a:cs typeface="Calibri" pitchFamily="34" charset="-120"/>
              </a:rPr>
              <a:t>Drift beyond the envelope</a:t>
            </a:r>
            <a:endParaRPr lang="en-US" sz="1200" dirty="0"/>
          </a:p>
        </p:txBody>
      </p:sp>
      <p:sp>
        <p:nvSpPr>
          <p:cNvPr id="31" name="Text 29"/>
          <p:cNvSpPr/>
          <p:nvPr/>
        </p:nvSpPr>
        <p:spPr>
          <a:xfrm>
            <a:off x="4617720" y="4297680"/>
            <a:ext cx="3337560" cy="850392"/>
          </a:xfrm>
          <a:prstGeom prst="rect">
            <a:avLst/>
          </a:prstGeom>
          <a:noFill/>
          <a:ln/>
        </p:spPr>
        <p:txBody>
          <a:bodyPr wrap="square" lIns="0" tIns="0" rIns="0" bIns="0" rtlCol="0" anchor="t"/>
          <a:lstStyle/>
          <a:p>
            <a:pPr indent="0" marL="0">
              <a:buNone/>
            </a:pPr>
            <a:r>
              <a:rPr lang="en-US" sz="1020" dirty="0">
                <a:solidFill>
                  <a:srgbClr val="30363D"/>
                </a:solidFill>
                <a:latin typeface="Calibri" pitchFamily="34" charset="0"/>
                <a:ea typeface="Calibri" pitchFamily="34" charset="-122"/>
                <a:cs typeface="Calibri" pitchFamily="34" charset="-120"/>
              </a:rPr>
              <a:t>The triage is stale. A trigger fired that it never assessed; the work re-triages before it can merge.</a:t>
            </a:r>
            <a:endParaRPr lang="en-US" sz="1020" dirty="0"/>
          </a:p>
        </p:txBody>
      </p:sp>
      <p:sp>
        <p:nvSpPr>
          <p:cNvPr id="32" name="Shape 30"/>
          <p:cNvSpPr/>
          <p:nvPr/>
        </p:nvSpPr>
        <p:spPr>
          <a:xfrm>
            <a:off x="8366760" y="3840480"/>
            <a:ext cx="3703320" cy="1417320"/>
          </a:xfrm>
          <a:prstGeom prst="roundRect">
            <a:avLst>
              <a:gd name="adj" fmla="val 3548"/>
            </a:avLst>
          </a:prstGeom>
          <a:solidFill>
            <a:srgbClr val="FFFFFF"/>
          </a:solidFill>
          <a:ln w="12700">
            <a:solidFill>
              <a:srgbClr val="C9D2DD"/>
            </a:solidFill>
            <a:prstDash val="solid"/>
          </a:ln>
        </p:spPr>
      </p:sp>
      <p:sp>
        <p:nvSpPr>
          <p:cNvPr id="33" name="Shape 31"/>
          <p:cNvSpPr/>
          <p:nvPr/>
        </p:nvSpPr>
        <p:spPr>
          <a:xfrm>
            <a:off x="8366760" y="3840480"/>
            <a:ext cx="54864" cy="1417320"/>
          </a:xfrm>
          <a:prstGeom prst="rect">
            <a:avLst/>
          </a:prstGeom>
          <a:solidFill>
            <a:srgbClr val="2A9D8C"/>
          </a:solidFill>
          <a:ln/>
        </p:spPr>
      </p:sp>
      <p:sp>
        <p:nvSpPr>
          <p:cNvPr id="34" name="Text 32"/>
          <p:cNvSpPr/>
          <p:nvPr/>
        </p:nvSpPr>
        <p:spPr>
          <a:xfrm>
            <a:off x="8549640" y="3950208"/>
            <a:ext cx="3337560" cy="329184"/>
          </a:xfrm>
          <a:prstGeom prst="rect">
            <a:avLst/>
          </a:prstGeom>
          <a:noFill/>
          <a:ln/>
        </p:spPr>
        <p:txBody>
          <a:bodyPr wrap="square" lIns="0" tIns="0" rIns="0" bIns="0" rtlCol="0" anchor="ctr"/>
          <a:lstStyle/>
          <a:p>
            <a:pPr indent="0" marL="0">
              <a:buNone/>
            </a:pPr>
            <a:r>
              <a:rPr lang="en-US" sz="1200" b="1" dirty="0">
                <a:solidFill>
                  <a:srgbClr val="2A9D8C"/>
                </a:solidFill>
                <a:latin typeface="Calibri" pitchFamily="34" charset="0"/>
                <a:ea typeface="Calibri" pitchFamily="34" charset="-122"/>
                <a:cs typeface="Calibri" pitchFamily="34" charset="-120"/>
              </a:rPr>
              <a:t>Inside the envelope</a:t>
            </a:r>
            <a:endParaRPr lang="en-US" sz="1200" dirty="0"/>
          </a:p>
        </p:txBody>
      </p:sp>
      <p:sp>
        <p:nvSpPr>
          <p:cNvPr id="35" name="Text 33"/>
          <p:cNvSpPr/>
          <p:nvPr/>
        </p:nvSpPr>
        <p:spPr>
          <a:xfrm>
            <a:off x="8549640" y="4297680"/>
            <a:ext cx="3337560" cy="850392"/>
          </a:xfrm>
          <a:prstGeom prst="rect">
            <a:avLst/>
          </a:prstGeom>
          <a:noFill/>
          <a:ln/>
        </p:spPr>
        <p:txBody>
          <a:bodyPr wrap="square" lIns="0" tIns="0" rIns="0" bIns="0" rtlCol="0" anchor="t"/>
          <a:lstStyle/>
          <a:p>
            <a:pPr indent="0" marL="0">
              <a:buNone/>
            </a:pPr>
            <a:r>
              <a:rPr lang="en-US" sz="1020" dirty="0">
                <a:solidFill>
                  <a:srgbClr val="30363D"/>
                </a:solidFill>
                <a:latin typeface="Calibri" pitchFamily="34" charset="0"/>
                <a:ea typeface="Calibri" pitchFamily="34" charset="-122"/>
                <a:cs typeface="Calibri" pitchFamily="34" charset="-120"/>
              </a:rPr>
              <a:t>The check passes and a self-cleared child record is stamped automatically. No form: the low-effort path is the compliant one.</a:t>
            </a:r>
            <a:endParaRPr lang="en-US" sz="1020" dirty="0"/>
          </a:p>
        </p:txBody>
      </p:sp>
      <p:sp>
        <p:nvSpPr>
          <p:cNvPr id="36" name="Text 34"/>
          <p:cNvSpPr/>
          <p:nvPr/>
        </p:nvSpPr>
        <p:spPr>
          <a:xfrm>
            <a:off x="502920" y="5440680"/>
            <a:ext cx="11183112" cy="502920"/>
          </a:xfrm>
          <a:prstGeom prst="rect">
            <a:avLst/>
          </a:prstGeom>
          <a:noFill/>
          <a:ln/>
        </p:spPr>
        <p:txBody>
          <a:bodyPr wrap="square" lIns="0" tIns="0" rIns="0" bIns="0" rtlCol="0" anchor="t"/>
          <a:lstStyle/>
          <a:p>
            <a:pPr indent="0" marL="0">
              <a:buNone/>
            </a:pPr>
            <a:r>
              <a:rPr lang="en-US" sz="1030" dirty="0">
                <a:solidFill>
                  <a:srgbClr val="30363D"/>
                </a:solidFill>
                <a:latin typeface="Calibri" pitchFamily="34" charset="0"/>
                <a:ea typeface="Calibri" pitchFamily="34" charset="-122"/>
                <a:cs typeface="Calibri" pitchFamily="34" charset="-120"/>
              </a:rPr>
              <a:t>For a T2-or-higher change the named senior owner’s approval is also required, as code-owner on the triage record, so an author cannot sign off their own high-risk change. The change-management checklist item is satisfied by the status check, not a tick.</a:t>
            </a:r>
            <a:endParaRPr lang="en-US" sz="1030" dirty="0"/>
          </a:p>
        </p:txBody>
      </p:sp>
      <p:sp>
        <p:nvSpPr>
          <p:cNvPr id="37" name="Shape 35"/>
          <p:cNvSpPr/>
          <p:nvPr/>
        </p:nvSpPr>
        <p:spPr>
          <a:xfrm>
            <a:off x="502920" y="5943600"/>
            <a:ext cx="11183112" cy="475488"/>
          </a:xfrm>
          <a:prstGeom prst="rect">
            <a:avLst/>
          </a:prstGeom>
          <a:solidFill>
            <a:srgbClr val="FCF6EC"/>
          </a:solidFill>
          <a:ln w="9525">
            <a:solidFill>
              <a:srgbClr val="E0A458"/>
            </a:solidFill>
            <a:prstDash val="solid"/>
          </a:ln>
        </p:spPr>
      </p:sp>
      <p:sp>
        <p:nvSpPr>
          <p:cNvPr id="38" name="Shape 36"/>
          <p:cNvSpPr/>
          <p:nvPr/>
        </p:nvSpPr>
        <p:spPr>
          <a:xfrm>
            <a:off x="502920" y="5943600"/>
            <a:ext cx="50292" cy="475488"/>
          </a:xfrm>
          <a:prstGeom prst="rect">
            <a:avLst/>
          </a:prstGeom>
          <a:solidFill>
            <a:srgbClr val="E0A458"/>
          </a:solidFill>
          <a:ln/>
        </p:spPr>
      </p:sp>
      <p:sp>
        <p:nvSpPr>
          <p:cNvPr id="39" name="Text 37"/>
          <p:cNvSpPr/>
          <p:nvPr/>
        </p:nvSpPr>
        <p:spPr>
          <a:xfrm>
            <a:off x="649224" y="5998464"/>
            <a:ext cx="10908792" cy="365760"/>
          </a:xfrm>
          <a:prstGeom prst="rect">
            <a:avLst/>
          </a:prstGeom>
          <a:noFill/>
          <a:ln/>
        </p:spPr>
        <p:txBody>
          <a:bodyPr wrap="square" lIns="0" tIns="0" rIns="0" bIns="0" rtlCol="0" anchor="ctr"/>
          <a:lstStyle/>
          <a:p>
            <a:pPr indent="0" marL="0">
              <a:buNone/>
            </a:pPr>
            <a:r>
              <a:rPr lang="en-US" sz="1050" b="1" dirty="0">
                <a:solidFill>
                  <a:srgbClr val="9A6A1E"/>
                </a:solidFill>
                <a:latin typeface="Calibri" pitchFamily="34" charset="0"/>
                <a:ea typeface="Calibri" pitchFamily="34" charset="-122"/>
                <a:cs typeface="Calibri" pitchFamily="34" charset="-120"/>
              </a:rPr>
              <a:t>Pilot status.  </a:t>
            </a:r>
            <a:pPr indent="0" marL="0">
              <a:buNone/>
            </a:pPr>
            <a:r>
              <a:rPr lang="en-US" sz="1050" dirty="0">
                <a:solidFill>
                  <a:srgbClr val="30363D"/>
                </a:solidFill>
                <a:latin typeface="Calibri" pitchFamily="34" charset="0"/>
                <a:ea typeface="Calibri" pitchFamily="34" charset="-122"/>
                <a:cs typeface="Calibri" pitchFamily="34" charset="-120"/>
              </a:rPr>
              <a:t>The exact wiring is validated against the real environment first; until then the check runs in report-only mode alongside the manual checklist.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92608"/>
            <a:ext cx="10607040" cy="566928"/>
          </a:xfrm>
          <a:prstGeom prst="rect">
            <a:avLst/>
          </a:prstGeom>
          <a:noFill/>
          <a:ln/>
        </p:spPr>
        <p:txBody>
          <a:bodyPr wrap="square" lIns="0" tIns="0" rIns="0" bIns="0" rtlCol="0" anchor="ctr"/>
          <a:lstStyle/>
          <a:p>
            <a:pPr indent="0" marL="0">
              <a:buNone/>
            </a:pPr>
            <a:r>
              <a:rPr lang="en-US" sz="2600" b="1" dirty="0">
                <a:solidFill>
                  <a:srgbClr val="1F3A5F"/>
                </a:solidFill>
                <a:latin typeface="Calibri" pitchFamily="34" charset="0"/>
                <a:ea typeface="Calibri" pitchFamily="34" charset="-122"/>
                <a:cs typeface="Calibri" pitchFamily="34" charset="-120"/>
              </a:rPr>
              <a:t>Breaches: detection-led, routed by type</a:t>
            </a:r>
            <a:endParaRPr lang="en-US" sz="2600" dirty="0"/>
          </a:p>
        </p:txBody>
      </p:sp>
      <p:sp>
        <p:nvSpPr>
          <p:cNvPr id="3" name="Text 1"/>
          <p:cNvSpPr/>
          <p:nvPr/>
        </p:nvSpPr>
        <p:spPr>
          <a:xfrm>
            <a:off x="521208" y="859536"/>
            <a:ext cx="10607040" cy="274320"/>
          </a:xfrm>
          <a:prstGeom prst="rect">
            <a:avLst/>
          </a:prstGeom>
          <a:noFill/>
          <a:ln/>
        </p:spPr>
        <p:txBody>
          <a:bodyPr wrap="square" lIns="0" tIns="0" rIns="0" bIns="0" rtlCol="0" anchor="ctr"/>
          <a:lstStyle/>
          <a:p>
            <a:pPr indent="0" marL="0">
              <a:buNone/>
            </a:pPr>
            <a:r>
              <a:rPr lang="en-US" sz="1050" b="1" spc="300" kern="0" dirty="0">
                <a:solidFill>
                  <a:srgbClr val="2A9D8C"/>
                </a:solidFill>
                <a:latin typeface="Calibri" pitchFamily="34" charset="0"/>
                <a:ea typeface="Calibri" pitchFamily="34" charset="-122"/>
                <a:cs typeface="Calibri" pitchFamily="34" charset="-120"/>
              </a:rPr>
              <a:t>NO RELIANCE ON SELF-REPORT</a:t>
            </a:r>
            <a:endParaRPr lang="en-US" sz="1050" dirty="0"/>
          </a:p>
        </p:txBody>
      </p:sp>
      <p:sp>
        <p:nvSpPr>
          <p:cNvPr id="4" name="Text 2"/>
          <p:cNvSpPr/>
          <p:nvPr/>
        </p:nvSpPr>
        <p:spPr>
          <a:xfrm>
            <a:off x="502920" y="6473952"/>
            <a:ext cx="8686800" cy="274320"/>
          </a:xfrm>
          <a:prstGeom prst="rect">
            <a:avLst/>
          </a:prstGeom>
          <a:noFill/>
          <a:ln/>
        </p:spPr>
        <p:txBody>
          <a:bodyPr wrap="square" lIns="0" tIns="0" rIns="0" bIns="0" rtlCol="0" anchor="ctr"/>
          <a:lstStyle/>
          <a:p>
            <a:pPr indent="0" marL="0">
              <a:buNone/>
            </a:pPr>
            <a:r>
              <a:rPr lang="en-US" sz="850" dirty="0">
                <a:solidFill>
                  <a:srgbClr val="6E7B8A"/>
                </a:solidFill>
                <a:latin typeface="Calibri" pitchFamily="34" charset="0"/>
                <a:ea typeface="Calibri" pitchFamily="34" charset="-122"/>
                <a:cs typeface="Calibri" pitchFamily="34" charset="-120"/>
              </a:rPr>
              <a:t>PAVE  ·  Security Engagement Operating Model  ·  How the model evolved</a:t>
            </a:r>
            <a:endParaRPr lang="en-US" sz="850" dirty="0"/>
          </a:p>
        </p:txBody>
      </p:sp>
      <p:sp>
        <p:nvSpPr>
          <p:cNvPr id="5" name="Text 3"/>
          <p:cNvSpPr/>
          <p:nvPr/>
        </p:nvSpPr>
        <p:spPr>
          <a:xfrm>
            <a:off x="11475720" y="6473952"/>
            <a:ext cx="457200" cy="274320"/>
          </a:xfrm>
          <a:prstGeom prst="rect">
            <a:avLst/>
          </a:prstGeom>
          <a:noFill/>
          <a:ln/>
        </p:spPr>
        <p:txBody>
          <a:bodyPr wrap="square" lIns="0" tIns="0" rIns="0" bIns="0" rtlCol="0" anchor="ctr"/>
          <a:lstStyle/>
          <a:p>
            <a:pPr algn="r" indent="0" marL="0">
              <a:buNone/>
            </a:pPr>
            <a:r>
              <a:rPr lang="en-US" sz="850" dirty="0">
                <a:solidFill>
                  <a:srgbClr val="6E7B8A"/>
                </a:solidFill>
                <a:latin typeface="Calibri" pitchFamily="34" charset="0"/>
                <a:ea typeface="Calibri" pitchFamily="34" charset="-122"/>
                <a:cs typeface="Calibri" pitchFamily="34" charset="-120"/>
              </a:rPr>
              <a:t>9</a:t>
            </a:r>
            <a:endParaRPr lang="en-US" sz="850" dirty="0"/>
          </a:p>
        </p:txBody>
      </p:sp>
      <p:sp>
        <p:nvSpPr>
          <p:cNvPr id="6" name="Shape 4"/>
          <p:cNvSpPr/>
          <p:nvPr/>
        </p:nvSpPr>
        <p:spPr>
          <a:xfrm>
            <a:off x="502920" y="1737360"/>
            <a:ext cx="5074920" cy="1600200"/>
          </a:xfrm>
          <a:prstGeom prst="roundRect">
            <a:avLst>
              <a:gd name="adj" fmla="val 3143"/>
            </a:avLst>
          </a:prstGeom>
          <a:solidFill>
            <a:srgbClr val="F5F7FA"/>
          </a:solidFill>
          <a:ln w="12700">
            <a:solidFill>
              <a:srgbClr val="C9D2DD"/>
            </a:solidFill>
            <a:prstDash val="solid"/>
          </a:ln>
        </p:spPr>
      </p:sp>
      <p:sp>
        <p:nvSpPr>
          <p:cNvPr id="7" name="Text 5"/>
          <p:cNvSpPr/>
          <p:nvPr/>
        </p:nvSpPr>
        <p:spPr>
          <a:xfrm>
            <a:off x="685800" y="1847088"/>
            <a:ext cx="1828800" cy="237744"/>
          </a:xfrm>
          <a:prstGeom prst="rect">
            <a:avLst/>
          </a:prstGeom>
          <a:noFill/>
          <a:ln/>
        </p:spPr>
        <p:txBody>
          <a:bodyPr wrap="square" lIns="0" tIns="0" rIns="0" bIns="0" rtlCol="0" anchor="ctr"/>
          <a:lstStyle/>
          <a:p>
            <a:pPr indent="0" marL="0">
              <a:buNone/>
            </a:pPr>
            <a:r>
              <a:rPr lang="en-US" sz="950" b="1" spc="200" kern="0" dirty="0">
                <a:solidFill>
                  <a:srgbClr val="557A95"/>
                </a:solidFill>
                <a:latin typeface="Calibri" pitchFamily="34" charset="0"/>
                <a:ea typeface="Calibri" pitchFamily="34" charset="-122"/>
                <a:cs typeface="Calibri" pitchFamily="34" charset="-120"/>
              </a:rPr>
              <a:t>THEN</a:t>
            </a:r>
            <a:endParaRPr lang="en-US" sz="950" dirty="0"/>
          </a:p>
        </p:txBody>
      </p:sp>
      <p:sp>
        <p:nvSpPr>
          <p:cNvPr id="8" name="Text 6"/>
          <p:cNvSpPr/>
          <p:nvPr/>
        </p:nvSpPr>
        <p:spPr>
          <a:xfrm>
            <a:off x="685800" y="2103120"/>
            <a:ext cx="4709160" cy="1124712"/>
          </a:xfrm>
          <a:prstGeom prst="rect">
            <a:avLst/>
          </a:prstGeom>
          <a:noFill/>
          <a:ln/>
        </p:spPr>
        <p:txBody>
          <a:bodyPr wrap="square" lIns="0" tIns="0" rIns="0" bIns="0" rtlCol="0" anchor="t"/>
          <a:lstStyle/>
          <a:p>
            <a:pPr indent="0" marL="0">
              <a:buNone/>
            </a:pPr>
            <a:r>
              <a:rPr lang="en-US" sz="1150" dirty="0">
                <a:solidFill>
                  <a:srgbClr val="30363D"/>
                </a:solidFill>
                <a:latin typeface="Calibri" pitchFamily="34" charset="0"/>
                <a:ea typeface="Calibri" pitchFamily="34" charset="-122"/>
                <a:cs typeface="Calibri" pitchFamily="34" charset="-120"/>
              </a:rPr>
              <a:t>Operating outside the rules surfaced only if someone said so, or when assurance eventually sampled the work.</a:t>
            </a:r>
            <a:endParaRPr lang="en-US" sz="1150" dirty="0"/>
          </a:p>
        </p:txBody>
      </p:sp>
      <p:sp>
        <p:nvSpPr>
          <p:cNvPr id="9" name="Shape 7"/>
          <p:cNvSpPr/>
          <p:nvPr/>
        </p:nvSpPr>
        <p:spPr>
          <a:xfrm>
            <a:off x="5742432" y="2363724"/>
            <a:ext cx="566928" cy="347472"/>
          </a:xfrm>
          <a:prstGeom prst="rightArrow">
            <a:avLst/>
          </a:prstGeom>
          <a:solidFill>
            <a:srgbClr val="1F3A5F"/>
          </a:solidFill>
          <a:ln/>
        </p:spPr>
      </p:sp>
      <p:sp>
        <p:nvSpPr>
          <p:cNvPr id="10" name="Shape 8"/>
          <p:cNvSpPr/>
          <p:nvPr/>
        </p:nvSpPr>
        <p:spPr>
          <a:xfrm>
            <a:off x="6473952" y="1737360"/>
            <a:ext cx="5074920" cy="1600200"/>
          </a:xfrm>
          <a:prstGeom prst="roundRect">
            <a:avLst>
              <a:gd name="adj" fmla="val 3143"/>
            </a:avLst>
          </a:prstGeom>
          <a:solidFill>
            <a:srgbClr val="FFFFFF"/>
          </a:solidFill>
          <a:ln w="12700">
            <a:solidFill>
              <a:srgbClr val="C9D2DD"/>
            </a:solidFill>
            <a:prstDash val="solid"/>
          </a:ln>
        </p:spPr>
      </p:sp>
      <p:sp>
        <p:nvSpPr>
          <p:cNvPr id="11" name="Shape 9"/>
          <p:cNvSpPr/>
          <p:nvPr/>
        </p:nvSpPr>
        <p:spPr>
          <a:xfrm>
            <a:off x="6473952" y="1737360"/>
            <a:ext cx="54864" cy="1600200"/>
          </a:xfrm>
          <a:prstGeom prst="rect">
            <a:avLst/>
          </a:prstGeom>
          <a:solidFill>
            <a:srgbClr val="2A9D8C"/>
          </a:solidFill>
          <a:ln/>
        </p:spPr>
      </p:sp>
      <p:sp>
        <p:nvSpPr>
          <p:cNvPr id="12" name="Text 10"/>
          <p:cNvSpPr/>
          <p:nvPr/>
        </p:nvSpPr>
        <p:spPr>
          <a:xfrm>
            <a:off x="6675120" y="1847088"/>
            <a:ext cx="1828800" cy="237744"/>
          </a:xfrm>
          <a:prstGeom prst="rect">
            <a:avLst/>
          </a:prstGeom>
          <a:noFill/>
          <a:ln/>
        </p:spPr>
        <p:txBody>
          <a:bodyPr wrap="square" lIns="0" tIns="0" rIns="0" bIns="0" rtlCol="0" anchor="ctr"/>
          <a:lstStyle/>
          <a:p>
            <a:pPr indent="0" marL="0">
              <a:buNone/>
            </a:pPr>
            <a:r>
              <a:rPr lang="en-US" sz="950" b="1" spc="200" kern="0" dirty="0">
                <a:solidFill>
                  <a:srgbClr val="2A9D8C"/>
                </a:solidFill>
                <a:latin typeface="Calibri" pitchFamily="34" charset="0"/>
                <a:ea typeface="Calibri" pitchFamily="34" charset="-122"/>
                <a:cs typeface="Calibri" pitchFamily="34" charset="-120"/>
              </a:rPr>
              <a:t>NOW</a:t>
            </a:r>
            <a:endParaRPr lang="en-US" sz="950" dirty="0"/>
          </a:p>
        </p:txBody>
      </p:sp>
      <p:sp>
        <p:nvSpPr>
          <p:cNvPr id="13" name="Text 11"/>
          <p:cNvSpPr/>
          <p:nvPr/>
        </p:nvSpPr>
        <p:spPr>
          <a:xfrm>
            <a:off x="6675120" y="2103120"/>
            <a:ext cx="4690872" cy="1124712"/>
          </a:xfrm>
          <a:prstGeom prst="rect">
            <a:avLst/>
          </a:prstGeom>
          <a:noFill/>
          <a:ln/>
        </p:spPr>
        <p:txBody>
          <a:bodyPr wrap="square" lIns="0" tIns="0" rIns="0" bIns="0" rtlCol="0" anchor="t"/>
          <a:lstStyle/>
          <a:p>
            <a:pPr indent="0" marL="0">
              <a:buNone/>
            </a:pPr>
            <a:r>
              <a:rPr lang="en-US" sz="1150" dirty="0">
                <a:solidFill>
                  <a:srgbClr val="30363D"/>
                </a:solidFill>
                <a:latin typeface="Calibri" pitchFamily="34" charset="0"/>
                <a:ea typeface="Calibri" pitchFamily="34" charset="-122"/>
                <a:cs typeface="Calibri" pitchFamily="34" charset="-120"/>
              </a:rPr>
              <a:t>Detective controls and SOC alerting catch breaches and drift automatically, whatever was attested at design.</a:t>
            </a:r>
            <a:endParaRPr lang="en-US" sz="1150" dirty="0"/>
          </a:p>
        </p:txBody>
      </p:sp>
      <p:sp>
        <p:nvSpPr>
          <p:cNvPr id="14" name="Shape 12"/>
          <p:cNvSpPr/>
          <p:nvPr/>
        </p:nvSpPr>
        <p:spPr>
          <a:xfrm>
            <a:off x="502920" y="3611880"/>
            <a:ext cx="5074920" cy="1600200"/>
          </a:xfrm>
          <a:prstGeom prst="roundRect">
            <a:avLst>
              <a:gd name="adj" fmla="val 3143"/>
            </a:avLst>
          </a:prstGeom>
          <a:solidFill>
            <a:srgbClr val="F5F7FA"/>
          </a:solidFill>
          <a:ln w="12700">
            <a:solidFill>
              <a:srgbClr val="C9D2DD"/>
            </a:solidFill>
            <a:prstDash val="solid"/>
          </a:ln>
        </p:spPr>
      </p:sp>
      <p:sp>
        <p:nvSpPr>
          <p:cNvPr id="15" name="Text 13"/>
          <p:cNvSpPr/>
          <p:nvPr/>
        </p:nvSpPr>
        <p:spPr>
          <a:xfrm>
            <a:off x="685800" y="3721608"/>
            <a:ext cx="1828800" cy="237744"/>
          </a:xfrm>
          <a:prstGeom prst="rect">
            <a:avLst/>
          </a:prstGeom>
          <a:noFill/>
          <a:ln/>
        </p:spPr>
        <p:txBody>
          <a:bodyPr wrap="square" lIns="0" tIns="0" rIns="0" bIns="0" rtlCol="0" anchor="ctr"/>
          <a:lstStyle/>
          <a:p>
            <a:pPr indent="0" marL="0">
              <a:buNone/>
            </a:pPr>
            <a:r>
              <a:rPr lang="en-US" sz="950" b="1" spc="200" kern="0" dirty="0">
                <a:solidFill>
                  <a:srgbClr val="557A95"/>
                </a:solidFill>
                <a:latin typeface="Calibri" pitchFamily="34" charset="0"/>
                <a:ea typeface="Calibri" pitchFamily="34" charset="-122"/>
                <a:cs typeface="Calibri" pitchFamily="34" charset="-120"/>
              </a:rPr>
              <a:t>THEN</a:t>
            </a:r>
            <a:endParaRPr lang="en-US" sz="950" dirty="0"/>
          </a:p>
        </p:txBody>
      </p:sp>
      <p:sp>
        <p:nvSpPr>
          <p:cNvPr id="16" name="Text 14"/>
          <p:cNvSpPr/>
          <p:nvPr/>
        </p:nvSpPr>
        <p:spPr>
          <a:xfrm>
            <a:off x="685800" y="3977640"/>
            <a:ext cx="4709160" cy="1124712"/>
          </a:xfrm>
          <a:prstGeom prst="rect">
            <a:avLst/>
          </a:prstGeom>
          <a:noFill/>
          <a:ln/>
        </p:spPr>
        <p:txBody>
          <a:bodyPr wrap="square" lIns="0" tIns="0" rIns="0" bIns="0" rtlCol="0" anchor="t"/>
          <a:lstStyle/>
          <a:p>
            <a:pPr indent="0" marL="0">
              <a:buNone/>
            </a:pPr>
            <a:r>
              <a:rPr lang="en-US" sz="1150" dirty="0">
                <a:solidFill>
                  <a:srgbClr val="30363D"/>
                </a:solidFill>
                <a:latin typeface="Calibri" pitchFamily="34" charset="0"/>
                <a:ea typeface="Calibri" pitchFamily="34" charset="-122"/>
                <a:cs typeface="Calibri" pitchFamily="34" charset="-120"/>
              </a:rPr>
              <a:t>Everything unusual came back to InfoSec as a question.</a:t>
            </a:r>
            <a:endParaRPr lang="en-US" sz="1150" dirty="0"/>
          </a:p>
        </p:txBody>
      </p:sp>
      <p:sp>
        <p:nvSpPr>
          <p:cNvPr id="17" name="Shape 15"/>
          <p:cNvSpPr/>
          <p:nvPr/>
        </p:nvSpPr>
        <p:spPr>
          <a:xfrm>
            <a:off x="5742432" y="4238244"/>
            <a:ext cx="566928" cy="347472"/>
          </a:xfrm>
          <a:prstGeom prst="rightArrow">
            <a:avLst/>
          </a:prstGeom>
          <a:solidFill>
            <a:srgbClr val="1F3A5F"/>
          </a:solidFill>
          <a:ln/>
        </p:spPr>
      </p:sp>
      <p:sp>
        <p:nvSpPr>
          <p:cNvPr id="18" name="Shape 16"/>
          <p:cNvSpPr/>
          <p:nvPr/>
        </p:nvSpPr>
        <p:spPr>
          <a:xfrm>
            <a:off x="6473952" y="3611880"/>
            <a:ext cx="5074920" cy="1600200"/>
          </a:xfrm>
          <a:prstGeom prst="roundRect">
            <a:avLst>
              <a:gd name="adj" fmla="val 3143"/>
            </a:avLst>
          </a:prstGeom>
          <a:solidFill>
            <a:srgbClr val="FFFFFF"/>
          </a:solidFill>
          <a:ln w="12700">
            <a:solidFill>
              <a:srgbClr val="C9D2DD"/>
            </a:solidFill>
            <a:prstDash val="solid"/>
          </a:ln>
        </p:spPr>
      </p:sp>
      <p:sp>
        <p:nvSpPr>
          <p:cNvPr id="19" name="Shape 17"/>
          <p:cNvSpPr/>
          <p:nvPr/>
        </p:nvSpPr>
        <p:spPr>
          <a:xfrm>
            <a:off x="6473952" y="3611880"/>
            <a:ext cx="54864" cy="1600200"/>
          </a:xfrm>
          <a:prstGeom prst="rect">
            <a:avLst/>
          </a:prstGeom>
          <a:solidFill>
            <a:srgbClr val="2A9D8C"/>
          </a:solidFill>
          <a:ln/>
        </p:spPr>
      </p:sp>
      <p:sp>
        <p:nvSpPr>
          <p:cNvPr id="20" name="Text 18"/>
          <p:cNvSpPr/>
          <p:nvPr/>
        </p:nvSpPr>
        <p:spPr>
          <a:xfrm>
            <a:off x="6675120" y="3721608"/>
            <a:ext cx="1828800" cy="237744"/>
          </a:xfrm>
          <a:prstGeom prst="rect">
            <a:avLst/>
          </a:prstGeom>
          <a:noFill/>
          <a:ln/>
        </p:spPr>
        <p:txBody>
          <a:bodyPr wrap="square" lIns="0" tIns="0" rIns="0" bIns="0" rtlCol="0" anchor="ctr"/>
          <a:lstStyle/>
          <a:p>
            <a:pPr indent="0" marL="0">
              <a:buNone/>
            </a:pPr>
            <a:r>
              <a:rPr lang="en-US" sz="950" b="1" spc="200" kern="0" dirty="0">
                <a:solidFill>
                  <a:srgbClr val="2A9D8C"/>
                </a:solidFill>
                <a:latin typeface="Calibri" pitchFamily="34" charset="0"/>
                <a:ea typeface="Calibri" pitchFamily="34" charset="-122"/>
                <a:cs typeface="Calibri" pitchFamily="34" charset="-120"/>
              </a:rPr>
              <a:t>NOW</a:t>
            </a:r>
            <a:endParaRPr lang="en-US" sz="950" dirty="0"/>
          </a:p>
        </p:txBody>
      </p:sp>
      <p:sp>
        <p:nvSpPr>
          <p:cNvPr id="21" name="Text 19"/>
          <p:cNvSpPr/>
          <p:nvPr/>
        </p:nvSpPr>
        <p:spPr>
          <a:xfrm>
            <a:off x="6675120" y="3977640"/>
            <a:ext cx="4690872" cy="1124712"/>
          </a:xfrm>
          <a:prstGeom prst="rect">
            <a:avLst/>
          </a:prstGeom>
          <a:noFill/>
          <a:ln/>
        </p:spPr>
        <p:txBody>
          <a:bodyPr wrap="square" lIns="0" tIns="0" rIns="0" bIns="0" rtlCol="0" anchor="t"/>
          <a:lstStyle/>
          <a:p>
            <a:pPr indent="0" marL="0">
              <a:buNone/>
            </a:pPr>
            <a:r>
              <a:rPr lang="en-US" sz="1150" dirty="0">
                <a:solidFill>
                  <a:srgbClr val="30363D"/>
                </a:solidFill>
                <a:latin typeface="Calibri" pitchFamily="34" charset="0"/>
                <a:ea typeface="Calibri" pitchFamily="34" charset="-122"/>
                <a:cs typeface="Calibri" pitchFamily="34" charset="-120"/>
              </a:rPr>
              <a:t>A breach raises an issue routed by type: compliance to GRC, technical to Defensive Security. Review decides if a touchpoint is needed; a breach is not automatic escalation.</a:t>
            </a:r>
            <a:endParaRPr lang="en-US" sz="1150" dirty="0"/>
          </a:p>
        </p:txBody>
      </p:sp>
      <p:sp>
        <p:nvSpPr>
          <p:cNvPr id="22" name="Text 20"/>
          <p:cNvSpPr/>
          <p:nvPr/>
        </p:nvSpPr>
        <p:spPr>
          <a:xfrm>
            <a:off x="502920" y="5486400"/>
            <a:ext cx="11155680" cy="32004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Persistent demand to depart from the same standard is treated as a signal to revise the standard, not only to correct the team.</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92608"/>
            <a:ext cx="10607040" cy="566928"/>
          </a:xfrm>
          <a:prstGeom prst="rect">
            <a:avLst/>
          </a:prstGeom>
          <a:noFill/>
          <a:ln/>
        </p:spPr>
        <p:txBody>
          <a:bodyPr wrap="square" lIns="0" tIns="0" rIns="0" bIns="0" rtlCol="0" anchor="ctr"/>
          <a:lstStyle/>
          <a:p>
            <a:pPr indent="0" marL="0">
              <a:buNone/>
            </a:pPr>
            <a:r>
              <a:rPr lang="en-US" sz="2600" b="1" dirty="0">
                <a:solidFill>
                  <a:srgbClr val="1F3A5F"/>
                </a:solidFill>
                <a:latin typeface="Calibri" pitchFamily="34" charset="0"/>
                <a:ea typeface="Calibri" pitchFamily="34" charset="-122"/>
                <a:cs typeface="Calibri" pitchFamily="34" charset="-120"/>
              </a:rPr>
              <a:t>Assurance rebuilt on three mechanisms</a:t>
            </a:r>
            <a:endParaRPr lang="en-US" sz="2600" dirty="0"/>
          </a:p>
        </p:txBody>
      </p:sp>
      <p:sp>
        <p:nvSpPr>
          <p:cNvPr id="3" name="Text 1"/>
          <p:cNvSpPr/>
          <p:nvPr/>
        </p:nvSpPr>
        <p:spPr>
          <a:xfrm>
            <a:off x="521208" y="859536"/>
            <a:ext cx="10607040" cy="274320"/>
          </a:xfrm>
          <a:prstGeom prst="rect">
            <a:avLst/>
          </a:prstGeom>
          <a:noFill/>
          <a:ln/>
        </p:spPr>
        <p:txBody>
          <a:bodyPr wrap="square" lIns="0" tIns="0" rIns="0" bIns="0" rtlCol="0" anchor="ctr"/>
          <a:lstStyle/>
          <a:p>
            <a:pPr indent="0" marL="0">
              <a:buNone/>
            </a:pPr>
            <a:r>
              <a:rPr lang="en-US" sz="1050" b="1" spc="300" kern="0" dirty="0">
                <a:solidFill>
                  <a:srgbClr val="2A9D8C"/>
                </a:solidFill>
                <a:latin typeface="Calibri" pitchFamily="34" charset="0"/>
                <a:ea typeface="Calibri" pitchFamily="34" charset="-122"/>
                <a:cs typeface="Calibri" pitchFamily="34" charset="-120"/>
              </a:rPr>
              <a:t>ATTESTATION, DETECTION, ASSURANCE: THREE TIMES, ONE NET</a:t>
            </a:r>
            <a:endParaRPr lang="en-US" sz="1050" dirty="0"/>
          </a:p>
        </p:txBody>
      </p:sp>
      <p:sp>
        <p:nvSpPr>
          <p:cNvPr id="4" name="Text 2"/>
          <p:cNvSpPr/>
          <p:nvPr/>
        </p:nvSpPr>
        <p:spPr>
          <a:xfrm>
            <a:off x="502920" y="6473952"/>
            <a:ext cx="8686800" cy="274320"/>
          </a:xfrm>
          <a:prstGeom prst="rect">
            <a:avLst/>
          </a:prstGeom>
          <a:noFill/>
          <a:ln/>
        </p:spPr>
        <p:txBody>
          <a:bodyPr wrap="square" lIns="0" tIns="0" rIns="0" bIns="0" rtlCol="0" anchor="ctr"/>
          <a:lstStyle/>
          <a:p>
            <a:pPr indent="0" marL="0">
              <a:buNone/>
            </a:pPr>
            <a:r>
              <a:rPr lang="en-US" sz="850" dirty="0">
                <a:solidFill>
                  <a:srgbClr val="6E7B8A"/>
                </a:solidFill>
                <a:latin typeface="Calibri" pitchFamily="34" charset="0"/>
                <a:ea typeface="Calibri" pitchFamily="34" charset="-122"/>
                <a:cs typeface="Calibri" pitchFamily="34" charset="-120"/>
              </a:rPr>
              <a:t>PAVE  ·  Security Engagement Operating Model  ·  How the model evolved</a:t>
            </a:r>
            <a:endParaRPr lang="en-US" sz="850" dirty="0"/>
          </a:p>
        </p:txBody>
      </p:sp>
      <p:sp>
        <p:nvSpPr>
          <p:cNvPr id="5" name="Text 3"/>
          <p:cNvSpPr/>
          <p:nvPr/>
        </p:nvSpPr>
        <p:spPr>
          <a:xfrm>
            <a:off x="11475720" y="6473952"/>
            <a:ext cx="457200" cy="274320"/>
          </a:xfrm>
          <a:prstGeom prst="rect">
            <a:avLst/>
          </a:prstGeom>
          <a:noFill/>
          <a:ln/>
        </p:spPr>
        <p:txBody>
          <a:bodyPr wrap="square" lIns="0" tIns="0" rIns="0" bIns="0" rtlCol="0" anchor="ctr"/>
          <a:lstStyle/>
          <a:p>
            <a:pPr algn="r" indent="0" marL="0">
              <a:buNone/>
            </a:pPr>
            <a:r>
              <a:rPr lang="en-US" sz="850" dirty="0">
                <a:solidFill>
                  <a:srgbClr val="6E7B8A"/>
                </a:solidFill>
                <a:latin typeface="Calibri" pitchFamily="34" charset="0"/>
                <a:ea typeface="Calibri" pitchFamily="34" charset="-122"/>
                <a:cs typeface="Calibri" pitchFamily="34" charset="-120"/>
              </a:rPr>
              <a:t>10</a:t>
            </a:r>
            <a:endParaRPr lang="en-US" sz="850" dirty="0"/>
          </a:p>
        </p:txBody>
      </p:sp>
      <p:sp>
        <p:nvSpPr>
          <p:cNvPr id="6" name="Shape 4"/>
          <p:cNvSpPr/>
          <p:nvPr/>
        </p:nvSpPr>
        <p:spPr>
          <a:xfrm>
            <a:off x="502920" y="1737360"/>
            <a:ext cx="3703320" cy="2834640"/>
          </a:xfrm>
          <a:prstGeom prst="roundRect">
            <a:avLst>
              <a:gd name="adj" fmla="val 1774"/>
            </a:avLst>
          </a:prstGeom>
          <a:solidFill>
            <a:srgbClr val="FFFFFF"/>
          </a:solidFill>
          <a:ln w="12700">
            <a:solidFill>
              <a:srgbClr val="C9D2DD"/>
            </a:solidFill>
            <a:prstDash val="solid"/>
          </a:ln>
        </p:spPr>
      </p:sp>
      <p:sp>
        <p:nvSpPr>
          <p:cNvPr id="7" name="Shape 5"/>
          <p:cNvSpPr/>
          <p:nvPr/>
        </p:nvSpPr>
        <p:spPr>
          <a:xfrm>
            <a:off x="502920" y="1737360"/>
            <a:ext cx="3703320" cy="457200"/>
          </a:xfrm>
          <a:prstGeom prst="rect">
            <a:avLst/>
          </a:prstGeom>
          <a:solidFill>
            <a:srgbClr val="2E75B6"/>
          </a:solidFill>
          <a:ln/>
        </p:spPr>
      </p:sp>
      <p:sp>
        <p:nvSpPr>
          <p:cNvPr id="8" name="Text 6"/>
          <p:cNvSpPr/>
          <p:nvPr/>
        </p:nvSpPr>
        <p:spPr>
          <a:xfrm>
            <a:off x="685800" y="1801368"/>
            <a:ext cx="333756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Attestation</a:t>
            </a:r>
            <a:endParaRPr lang="en-US" sz="1400" dirty="0"/>
          </a:p>
        </p:txBody>
      </p:sp>
      <p:sp>
        <p:nvSpPr>
          <p:cNvPr id="9" name="Text 7"/>
          <p:cNvSpPr/>
          <p:nvPr/>
        </p:nvSpPr>
        <p:spPr>
          <a:xfrm>
            <a:off x="685800" y="2304288"/>
            <a:ext cx="3337560" cy="274320"/>
          </a:xfrm>
          <a:prstGeom prst="rect">
            <a:avLst/>
          </a:prstGeom>
          <a:noFill/>
          <a:ln/>
        </p:spPr>
        <p:txBody>
          <a:bodyPr wrap="square" lIns="0" tIns="0" rIns="0" bIns="0" rtlCol="0" anchor="ctr"/>
          <a:lstStyle/>
          <a:p>
            <a:pPr indent="0" marL="0">
              <a:buNone/>
            </a:pPr>
            <a:r>
              <a:rPr lang="en-US" sz="900" b="1" spc="200" kern="0" dirty="0">
                <a:solidFill>
                  <a:srgbClr val="2E75B6"/>
                </a:solidFill>
                <a:latin typeface="Calibri" pitchFamily="34" charset="0"/>
                <a:ea typeface="Calibri" pitchFamily="34" charset="-122"/>
                <a:cs typeface="Calibri" pitchFamily="34" charset="-120"/>
              </a:rPr>
              <a:t>AT DESIGN</a:t>
            </a:r>
            <a:endParaRPr lang="en-US" sz="900" dirty="0"/>
          </a:p>
        </p:txBody>
      </p:sp>
      <p:sp>
        <p:nvSpPr>
          <p:cNvPr id="10" name="Text 8"/>
          <p:cNvSpPr/>
          <p:nvPr/>
        </p:nvSpPr>
        <p:spPr>
          <a:xfrm>
            <a:off x="685800" y="2633472"/>
            <a:ext cx="3337560" cy="1783080"/>
          </a:xfrm>
          <a:prstGeom prst="rect">
            <a:avLst/>
          </a:prstGeom>
          <a:noFill/>
          <a:ln/>
        </p:spPr>
        <p:txBody>
          <a:bodyPr wrap="square" lIns="0" tIns="0" rIns="0" bIns="0" rtlCol="0" anchor="t"/>
          <a:lstStyle/>
          <a:p>
            <a:pPr indent="0" marL="0">
              <a:buNone/>
            </a:pPr>
            <a:r>
              <a:rPr lang="en-US" sz="1100" dirty="0">
                <a:solidFill>
                  <a:srgbClr val="30363D"/>
                </a:solidFill>
                <a:latin typeface="Calibri" pitchFamily="34" charset="0"/>
                <a:ea typeface="Calibri" pitchFamily="34" charset="-122"/>
                <a:cs typeface="Calibri" pitchFamily="34" charset="-120"/>
              </a:rPr>
              <a:t>In the triage, the team declares the work follows the applicable standards. Cheap, and never the sole control.</a:t>
            </a:r>
            <a:endParaRPr lang="en-US" sz="1100" dirty="0"/>
          </a:p>
        </p:txBody>
      </p:sp>
      <p:sp>
        <p:nvSpPr>
          <p:cNvPr id="11" name="Shape 9"/>
          <p:cNvSpPr/>
          <p:nvPr/>
        </p:nvSpPr>
        <p:spPr>
          <a:xfrm>
            <a:off x="4434840" y="1737360"/>
            <a:ext cx="3703320" cy="2834640"/>
          </a:xfrm>
          <a:prstGeom prst="roundRect">
            <a:avLst>
              <a:gd name="adj" fmla="val 1774"/>
            </a:avLst>
          </a:prstGeom>
          <a:solidFill>
            <a:srgbClr val="FFFFFF"/>
          </a:solidFill>
          <a:ln w="12700">
            <a:solidFill>
              <a:srgbClr val="C9D2DD"/>
            </a:solidFill>
            <a:prstDash val="solid"/>
          </a:ln>
        </p:spPr>
      </p:sp>
      <p:sp>
        <p:nvSpPr>
          <p:cNvPr id="12" name="Shape 10"/>
          <p:cNvSpPr/>
          <p:nvPr/>
        </p:nvSpPr>
        <p:spPr>
          <a:xfrm>
            <a:off x="4434840" y="1737360"/>
            <a:ext cx="3703320" cy="457200"/>
          </a:xfrm>
          <a:prstGeom prst="rect">
            <a:avLst/>
          </a:prstGeom>
          <a:solidFill>
            <a:srgbClr val="2A9D8C"/>
          </a:solidFill>
          <a:ln/>
        </p:spPr>
      </p:sp>
      <p:sp>
        <p:nvSpPr>
          <p:cNvPr id="13" name="Text 11"/>
          <p:cNvSpPr/>
          <p:nvPr/>
        </p:nvSpPr>
        <p:spPr>
          <a:xfrm>
            <a:off x="4617720" y="1801368"/>
            <a:ext cx="333756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Detection</a:t>
            </a:r>
            <a:endParaRPr lang="en-US" sz="1400" dirty="0"/>
          </a:p>
        </p:txBody>
      </p:sp>
      <p:sp>
        <p:nvSpPr>
          <p:cNvPr id="14" name="Text 12"/>
          <p:cNvSpPr/>
          <p:nvPr/>
        </p:nvSpPr>
        <p:spPr>
          <a:xfrm>
            <a:off x="4617720" y="2304288"/>
            <a:ext cx="3337560" cy="274320"/>
          </a:xfrm>
          <a:prstGeom prst="rect">
            <a:avLst/>
          </a:prstGeom>
          <a:noFill/>
          <a:ln/>
        </p:spPr>
        <p:txBody>
          <a:bodyPr wrap="square" lIns="0" tIns="0" rIns="0" bIns="0" rtlCol="0" anchor="ctr"/>
          <a:lstStyle/>
          <a:p>
            <a:pPr indent="0" marL="0">
              <a:buNone/>
            </a:pPr>
            <a:r>
              <a:rPr lang="en-US" sz="900" b="1" spc="200" kern="0" dirty="0">
                <a:solidFill>
                  <a:srgbClr val="2A9D8C"/>
                </a:solidFill>
                <a:latin typeface="Calibri" pitchFamily="34" charset="0"/>
                <a:ea typeface="Calibri" pitchFamily="34" charset="-122"/>
                <a:cs typeface="Calibri" pitchFamily="34" charset="-120"/>
              </a:rPr>
              <a:t>AT RUN TIME</a:t>
            </a:r>
            <a:endParaRPr lang="en-US" sz="900" dirty="0"/>
          </a:p>
        </p:txBody>
      </p:sp>
      <p:sp>
        <p:nvSpPr>
          <p:cNvPr id="15" name="Text 13"/>
          <p:cNvSpPr/>
          <p:nvPr/>
        </p:nvSpPr>
        <p:spPr>
          <a:xfrm>
            <a:off x="4617720" y="2633472"/>
            <a:ext cx="3337560" cy="1783080"/>
          </a:xfrm>
          <a:prstGeom prst="rect">
            <a:avLst/>
          </a:prstGeom>
          <a:noFill/>
          <a:ln/>
        </p:spPr>
        <p:txBody>
          <a:bodyPr wrap="square" lIns="0" tIns="0" rIns="0" bIns="0" rtlCol="0" anchor="t"/>
          <a:lstStyle/>
          <a:p>
            <a:pPr indent="0" marL="0">
              <a:buNone/>
            </a:pPr>
            <a:r>
              <a:rPr lang="en-US" sz="1100" dirty="0">
                <a:solidFill>
                  <a:srgbClr val="30363D"/>
                </a:solidFill>
                <a:latin typeface="Calibri" pitchFamily="34" charset="0"/>
                <a:ea typeface="Calibri" pitchFamily="34" charset="-122"/>
                <a:cs typeface="Calibri" pitchFamily="34" charset="-120"/>
              </a:rPr>
              <a:t>Detective controls and SOC alerting flag breaches and drift, regardless of what was attested. No reliance on self-report.</a:t>
            </a:r>
            <a:endParaRPr lang="en-US" sz="1100" dirty="0"/>
          </a:p>
        </p:txBody>
      </p:sp>
      <p:sp>
        <p:nvSpPr>
          <p:cNvPr id="16" name="Shape 14"/>
          <p:cNvSpPr/>
          <p:nvPr/>
        </p:nvSpPr>
        <p:spPr>
          <a:xfrm>
            <a:off x="8366760" y="1737360"/>
            <a:ext cx="3703320" cy="2834640"/>
          </a:xfrm>
          <a:prstGeom prst="roundRect">
            <a:avLst>
              <a:gd name="adj" fmla="val 1774"/>
            </a:avLst>
          </a:prstGeom>
          <a:solidFill>
            <a:srgbClr val="FFFFFF"/>
          </a:solidFill>
          <a:ln w="12700">
            <a:solidFill>
              <a:srgbClr val="C9D2DD"/>
            </a:solidFill>
            <a:prstDash val="solid"/>
          </a:ln>
        </p:spPr>
      </p:sp>
      <p:sp>
        <p:nvSpPr>
          <p:cNvPr id="17" name="Shape 15"/>
          <p:cNvSpPr/>
          <p:nvPr/>
        </p:nvSpPr>
        <p:spPr>
          <a:xfrm>
            <a:off x="8366760" y="1737360"/>
            <a:ext cx="3703320" cy="457200"/>
          </a:xfrm>
          <a:prstGeom prst="rect">
            <a:avLst/>
          </a:prstGeom>
          <a:solidFill>
            <a:srgbClr val="E0A458"/>
          </a:solidFill>
          <a:ln/>
        </p:spPr>
      </p:sp>
      <p:sp>
        <p:nvSpPr>
          <p:cNvPr id="18" name="Text 16"/>
          <p:cNvSpPr/>
          <p:nvPr/>
        </p:nvSpPr>
        <p:spPr>
          <a:xfrm>
            <a:off x="8549640" y="1801368"/>
            <a:ext cx="333756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Assurance</a:t>
            </a:r>
            <a:endParaRPr lang="en-US" sz="1400" dirty="0"/>
          </a:p>
        </p:txBody>
      </p:sp>
      <p:sp>
        <p:nvSpPr>
          <p:cNvPr id="19" name="Text 17"/>
          <p:cNvSpPr/>
          <p:nvPr/>
        </p:nvSpPr>
        <p:spPr>
          <a:xfrm>
            <a:off x="8549640" y="2304288"/>
            <a:ext cx="3337560" cy="274320"/>
          </a:xfrm>
          <a:prstGeom prst="rect">
            <a:avLst/>
          </a:prstGeom>
          <a:noFill/>
          <a:ln/>
        </p:spPr>
        <p:txBody>
          <a:bodyPr wrap="square" lIns="0" tIns="0" rIns="0" bIns="0" rtlCol="0" anchor="ctr"/>
          <a:lstStyle/>
          <a:p>
            <a:pPr indent="0" marL="0">
              <a:buNone/>
            </a:pPr>
            <a:r>
              <a:rPr lang="en-US" sz="900" b="1" spc="200" kern="0" dirty="0">
                <a:solidFill>
                  <a:srgbClr val="9A6A1E"/>
                </a:solidFill>
                <a:latin typeface="Calibri" pitchFamily="34" charset="0"/>
                <a:ea typeface="Calibri" pitchFamily="34" charset="-122"/>
                <a:cs typeface="Calibri" pitchFamily="34" charset="-120"/>
              </a:rPr>
              <a:t>PERIODIC</a:t>
            </a:r>
            <a:endParaRPr lang="en-US" sz="900" dirty="0"/>
          </a:p>
        </p:txBody>
      </p:sp>
      <p:sp>
        <p:nvSpPr>
          <p:cNvPr id="20" name="Text 18"/>
          <p:cNvSpPr/>
          <p:nvPr/>
        </p:nvSpPr>
        <p:spPr>
          <a:xfrm>
            <a:off x="8549640" y="2633472"/>
            <a:ext cx="3337560" cy="1783080"/>
          </a:xfrm>
          <a:prstGeom prst="rect">
            <a:avLst/>
          </a:prstGeom>
          <a:noFill/>
          <a:ln/>
        </p:spPr>
        <p:txBody>
          <a:bodyPr wrap="square" lIns="0" tIns="0" rIns="0" bIns="0" rtlCol="0" anchor="t"/>
          <a:lstStyle/>
          <a:p>
            <a:pPr indent="0" marL="0">
              <a:buNone/>
            </a:pPr>
            <a:r>
              <a:rPr lang="en-US" sz="1100" dirty="0">
                <a:solidFill>
                  <a:srgbClr val="30363D"/>
                </a:solidFill>
                <a:latin typeface="Calibri" pitchFamily="34" charset="0"/>
                <a:ea typeface="Calibri" pitchFamily="34" charset="-122"/>
                <a:cs typeface="Calibri" pitchFamily="34" charset="-120"/>
              </a:rPr>
              <a:t>GRC samples delivered work against its triage and boundary, checking the first two are working and surfacing what they miss.</a:t>
            </a:r>
            <a:endParaRPr lang="en-US" sz="1100" dirty="0"/>
          </a:p>
        </p:txBody>
      </p:sp>
      <p:sp>
        <p:nvSpPr>
          <p:cNvPr id="21" name="Shape 19"/>
          <p:cNvSpPr/>
          <p:nvPr/>
        </p:nvSpPr>
        <p:spPr>
          <a:xfrm>
            <a:off x="502920" y="4892040"/>
            <a:ext cx="11183112" cy="822960"/>
          </a:xfrm>
          <a:prstGeom prst="rect">
            <a:avLst/>
          </a:prstGeom>
          <a:solidFill>
            <a:srgbClr val="FCF6EC"/>
          </a:solidFill>
          <a:ln w="9525">
            <a:solidFill>
              <a:srgbClr val="E0A458"/>
            </a:solidFill>
            <a:prstDash val="solid"/>
          </a:ln>
        </p:spPr>
      </p:sp>
      <p:sp>
        <p:nvSpPr>
          <p:cNvPr id="22" name="Shape 20"/>
          <p:cNvSpPr/>
          <p:nvPr/>
        </p:nvSpPr>
        <p:spPr>
          <a:xfrm>
            <a:off x="502920" y="4892040"/>
            <a:ext cx="50292" cy="822960"/>
          </a:xfrm>
          <a:prstGeom prst="rect">
            <a:avLst/>
          </a:prstGeom>
          <a:solidFill>
            <a:srgbClr val="E0A458"/>
          </a:solidFill>
          <a:ln/>
        </p:spPr>
      </p:sp>
      <p:sp>
        <p:nvSpPr>
          <p:cNvPr id="23" name="Text 21"/>
          <p:cNvSpPr/>
          <p:nvPr/>
        </p:nvSpPr>
        <p:spPr>
          <a:xfrm>
            <a:off x="649224" y="4946904"/>
            <a:ext cx="10908792" cy="713232"/>
          </a:xfrm>
          <a:prstGeom prst="rect">
            <a:avLst/>
          </a:prstGeom>
          <a:noFill/>
          <a:ln/>
        </p:spPr>
        <p:txBody>
          <a:bodyPr wrap="square" lIns="0" tIns="0" rIns="0" bIns="0" rtlCol="0" anchor="ctr"/>
          <a:lstStyle/>
          <a:p>
            <a:pPr indent="0" marL="0">
              <a:buNone/>
            </a:pPr>
            <a:r>
              <a:rPr lang="en-US" sz="1050" b="1" dirty="0">
                <a:solidFill>
                  <a:srgbClr val="9A6A1E"/>
                </a:solidFill>
                <a:latin typeface="Calibri" pitchFamily="34" charset="0"/>
                <a:ea typeface="Calibri" pitchFamily="34" charset="-122"/>
                <a:cs typeface="Calibri" pitchFamily="34" charset="-120"/>
              </a:rPr>
              <a:t>What changed underneath.  </a:t>
            </a:r>
            <a:pPr indent="0" marL="0">
              <a:buNone/>
            </a:pPr>
            <a:r>
              <a:rPr lang="en-US" sz="1050" dirty="0">
                <a:solidFill>
                  <a:srgbClr val="30363D"/>
                </a:solidFill>
                <a:latin typeface="Calibri" pitchFamily="34" charset="0"/>
                <a:ea typeface="Calibri" pitchFamily="34" charset="-122"/>
                <a:cs typeface="Calibri" pitchFamily="34" charset="-120"/>
              </a:rPr>
              <a:t>The first draft leaned on attestation plus periodic sampling. The current model adds continuous detection and the mechanical currency gate between them, so no single mechanism carries the load and none depends on honesty alone.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92608"/>
            <a:ext cx="10607040" cy="566928"/>
          </a:xfrm>
          <a:prstGeom prst="rect">
            <a:avLst/>
          </a:prstGeom>
          <a:noFill/>
          <a:ln/>
        </p:spPr>
        <p:txBody>
          <a:bodyPr wrap="square" lIns="0" tIns="0" rIns="0" bIns="0" rtlCol="0" anchor="ctr"/>
          <a:lstStyle/>
          <a:p>
            <a:pPr indent="0" marL="0">
              <a:buNone/>
            </a:pPr>
            <a:r>
              <a:rPr lang="en-US" sz="2600" b="1" dirty="0">
                <a:solidFill>
                  <a:srgbClr val="1F3A5F"/>
                </a:solidFill>
                <a:latin typeface="Calibri" pitchFamily="34" charset="0"/>
                <a:ea typeface="Calibri" pitchFamily="34" charset="-122"/>
                <a:cs typeface="Calibri" pitchFamily="34" charset="-120"/>
              </a:rPr>
              <a:t>Feedback in, decisions out</a:t>
            </a:r>
            <a:endParaRPr lang="en-US" sz="2600" dirty="0"/>
          </a:p>
        </p:txBody>
      </p:sp>
      <p:sp>
        <p:nvSpPr>
          <p:cNvPr id="3" name="Text 1"/>
          <p:cNvSpPr/>
          <p:nvPr/>
        </p:nvSpPr>
        <p:spPr>
          <a:xfrm>
            <a:off x="521208" y="859536"/>
            <a:ext cx="10607040" cy="274320"/>
          </a:xfrm>
          <a:prstGeom prst="rect">
            <a:avLst/>
          </a:prstGeom>
          <a:noFill/>
          <a:ln/>
        </p:spPr>
        <p:txBody>
          <a:bodyPr wrap="square" lIns="0" tIns="0" rIns="0" bIns="0" rtlCol="0" anchor="ctr"/>
          <a:lstStyle/>
          <a:p>
            <a:pPr indent="0" marL="0">
              <a:buNone/>
            </a:pPr>
            <a:r>
              <a:rPr lang="en-US" sz="1050" b="1" spc="300" kern="0" dirty="0">
                <a:solidFill>
                  <a:srgbClr val="2A9D8C"/>
                </a:solidFill>
                <a:latin typeface="Calibri" pitchFamily="34" charset="0"/>
                <a:ea typeface="Calibri" pitchFamily="34" charset="-122"/>
                <a:cs typeface="Calibri" pitchFamily="34" charset="-120"/>
              </a:rPr>
              <a:t>EVERY CHALLENGE LOGGED, DISPOSITIONED AND TRACEABLE</a:t>
            </a:r>
            <a:endParaRPr lang="en-US" sz="1050" dirty="0"/>
          </a:p>
        </p:txBody>
      </p:sp>
      <p:sp>
        <p:nvSpPr>
          <p:cNvPr id="4" name="Text 2"/>
          <p:cNvSpPr/>
          <p:nvPr/>
        </p:nvSpPr>
        <p:spPr>
          <a:xfrm>
            <a:off x="502920" y="6473952"/>
            <a:ext cx="8686800" cy="274320"/>
          </a:xfrm>
          <a:prstGeom prst="rect">
            <a:avLst/>
          </a:prstGeom>
          <a:noFill/>
          <a:ln/>
        </p:spPr>
        <p:txBody>
          <a:bodyPr wrap="square" lIns="0" tIns="0" rIns="0" bIns="0" rtlCol="0" anchor="ctr"/>
          <a:lstStyle/>
          <a:p>
            <a:pPr indent="0" marL="0">
              <a:buNone/>
            </a:pPr>
            <a:r>
              <a:rPr lang="en-US" sz="850" dirty="0">
                <a:solidFill>
                  <a:srgbClr val="6E7B8A"/>
                </a:solidFill>
                <a:latin typeface="Calibri" pitchFamily="34" charset="0"/>
                <a:ea typeface="Calibri" pitchFamily="34" charset="-122"/>
                <a:cs typeface="Calibri" pitchFamily="34" charset="-120"/>
              </a:rPr>
              <a:t>PAVE  ·  Security Engagement Operating Model  ·  How the model evolved</a:t>
            </a:r>
            <a:endParaRPr lang="en-US" sz="850" dirty="0"/>
          </a:p>
        </p:txBody>
      </p:sp>
      <p:sp>
        <p:nvSpPr>
          <p:cNvPr id="5" name="Text 3"/>
          <p:cNvSpPr/>
          <p:nvPr/>
        </p:nvSpPr>
        <p:spPr>
          <a:xfrm>
            <a:off x="11475720" y="6473952"/>
            <a:ext cx="457200" cy="274320"/>
          </a:xfrm>
          <a:prstGeom prst="rect">
            <a:avLst/>
          </a:prstGeom>
          <a:noFill/>
          <a:ln/>
        </p:spPr>
        <p:txBody>
          <a:bodyPr wrap="square" lIns="0" tIns="0" rIns="0" bIns="0" rtlCol="0" anchor="ctr"/>
          <a:lstStyle/>
          <a:p>
            <a:pPr algn="r" indent="0" marL="0">
              <a:buNone/>
            </a:pPr>
            <a:r>
              <a:rPr lang="en-US" sz="850" dirty="0">
                <a:solidFill>
                  <a:srgbClr val="6E7B8A"/>
                </a:solidFill>
                <a:latin typeface="Calibri" pitchFamily="34" charset="0"/>
                <a:ea typeface="Calibri" pitchFamily="34" charset="-122"/>
                <a:cs typeface="Calibri" pitchFamily="34" charset="-120"/>
              </a:rPr>
              <a:t>11</a:t>
            </a:r>
            <a:endParaRPr lang="en-US" sz="850" dirty="0"/>
          </a:p>
        </p:txBody>
      </p:sp>
      <p:sp>
        <p:nvSpPr>
          <p:cNvPr id="6" name="Shape 4"/>
          <p:cNvSpPr/>
          <p:nvPr/>
        </p:nvSpPr>
        <p:spPr>
          <a:xfrm>
            <a:off x="502920" y="1481328"/>
            <a:ext cx="5394960" cy="658368"/>
          </a:xfrm>
          <a:prstGeom prst="roundRect">
            <a:avLst>
              <a:gd name="adj" fmla="val 7639"/>
            </a:avLst>
          </a:prstGeom>
          <a:solidFill>
            <a:srgbClr val="F5F7FA"/>
          </a:solidFill>
          <a:ln w="12700">
            <a:solidFill>
              <a:srgbClr val="C9D2DD"/>
            </a:solidFill>
            <a:prstDash val="solid"/>
          </a:ln>
        </p:spPr>
      </p:sp>
      <p:sp>
        <p:nvSpPr>
          <p:cNvPr id="7" name="Text 5"/>
          <p:cNvSpPr/>
          <p:nvPr/>
        </p:nvSpPr>
        <p:spPr>
          <a:xfrm>
            <a:off x="658368" y="1536192"/>
            <a:ext cx="5120640" cy="548640"/>
          </a:xfrm>
          <a:prstGeom prst="rect">
            <a:avLst/>
          </a:prstGeom>
          <a:noFill/>
          <a:ln/>
        </p:spPr>
        <p:txBody>
          <a:bodyPr wrap="square" lIns="0" tIns="0" rIns="0" bIns="0" rtlCol="0" anchor="ctr"/>
          <a:lstStyle/>
          <a:p>
            <a:pPr indent="0" marL="0">
              <a:buNone/>
            </a:pPr>
            <a:r>
              <a:rPr lang="en-US" sz="1000" dirty="0">
                <a:solidFill>
                  <a:srgbClr val="30363D"/>
                </a:solidFill>
                <a:latin typeface="Calibri" pitchFamily="34" charset="0"/>
                <a:ea typeface="Calibri" pitchFamily="34" charset="-122"/>
                <a:cs typeface="Calibri" pitchFamily="34" charset="-120"/>
              </a:rPr>
              <a:t>Paved roads will not scale across our workstreams</a:t>
            </a:r>
            <a:endParaRPr lang="en-US" sz="1000" dirty="0"/>
          </a:p>
        </p:txBody>
      </p:sp>
      <p:sp>
        <p:nvSpPr>
          <p:cNvPr id="8" name="Shape 6"/>
          <p:cNvSpPr/>
          <p:nvPr/>
        </p:nvSpPr>
        <p:spPr>
          <a:xfrm>
            <a:off x="5989320" y="1673352"/>
            <a:ext cx="365760" cy="274320"/>
          </a:xfrm>
          <a:prstGeom prst="rightArrow">
            <a:avLst/>
          </a:prstGeom>
          <a:solidFill>
            <a:srgbClr val="2A9D8C"/>
          </a:solidFill>
          <a:ln/>
        </p:spPr>
      </p:sp>
      <p:sp>
        <p:nvSpPr>
          <p:cNvPr id="9" name="Shape 7"/>
          <p:cNvSpPr/>
          <p:nvPr/>
        </p:nvSpPr>
        <p:spPr>
          <a:xfrm>
            <a:off x="6446520" y="1481328"/>
            <a:ext cx="5230368" cy="658368"/>
          </a:xfrm>
          <a:prstGeom prst="roundRect">
            <a:avLst>
              <a:gd name="adj" fmla="val 7639"/>
            </a:avLst>
          </a:prstGeom>
          <a:solidFill>
            <a:srgbClr val="FFFFFF"/>
          </a:solidFill>
          <a:ln w="12700">
            <a:solidFill>
              <a:srgbClr val="C9D2DD"/>
            </a:solidFill>
            <a:prstDash val="solid"/>
          </a:ln>
        </p:spPr>
      </p:sp>
      <p:sp>
        <p:nvSpPr>
          <p:cNvPr id="10" name="Text 8"/>
          <p:cNvSpPr/>
          <p:nvPr/>
        </p:nvSpPr>
        <p:spPr>
          <a:xfrm>
            <a:off x="6601968" y="1536192"/>
            <a:ext cx="4937760" cy="548640"/>
          </a:xfrm>
          <a:prstGeom prst="rect">
            <a:avLst/>
          </a:prstGeom>
          <a:noFill/>
          <a:ln/>
        </p:spPr>
        <p:txBody>
          <a:bodyPr wrap="square" lIns="0" tIns="0" rIns="0" bIns="0" rtlCol="0" anchor="ctr"/>
          <a:lstStyle/>
          <a:p>
            <a:pPr indent="0" marL="0">
              <a:buNone/>
            </a:pPr>
            <a:r>
              <a:rPr lang="en-US" sz="1000" dirty="0">
                <a:solidFill>
                  <a:srgbClr val="30363D"/>
                </a:solidFill>
                <a:latin typeface="Calibri" pitchFamily="34" charset="0"/>
                <a:ea typeface="Calibri" pitchFamily="34" charset="-122"/>
                <a:cs typeface="Calibri" pitchFamily="34" charset="-120"/>
              </a:rPr>
              <a:t>Accepted. Roads removed; the model moved to guardrails, then to standards.</a:t>
            </a:r>
            <a:endParaRPr lang="en-US" sz="1000" dirty="0"/>
          </a:p>
        </p:txBody>
      </p:sp>
      <p:sp>
        <p:nvSpPr>
          <p:cNvPr id="11" name="Shape 9"/>
          <p:cNvSpPr/>
          <p:nvPr/>
        </p:nvSpPr>
        <p:spPr>
          <a:xfrm>
            <a:off x="502920" y="2231136"/>
            <a:ext cx="5394960" cy="658368"/>
          </a:xfrm>
          <a:prstGeom prst="roundRect">
            <a:avLst>
              <a:gd name="adj" fmla="val 7639"/>
            </a:avLst>
          </a:prstGeom>
          <a:solidFill>
            <a:srgbClr val="F5F7FA"/>
          </a:solidFill>
          <a:ln w="12700">
            <a:solidFill>
              <a:srgbClr val="C9D2DD"/>
            </a:solidFill>
            <a:prstDash val="solid"/>
          </a:ln>
        </p:spPr>
      </p:sp>
      <p:sp>
        <p:nvSpPr>
          <p:cNvPr id="12" name="Text 10"/>
          <p:cNvSpPr/>
          <p:nvPr/>
        </p:nvSpPr>
        <p:spPr>
          <a:xfrm>
            <a:off x="658368" y="2286000"/>
            <a:ext cx="5120640" cy="548640"/>
          </a:xfrm>
          <a:prstGeom prst="rect">
            <a:avLst/>
          </a:prstGeom>
          <a:noFill/>
          <a:ln/>
        </p:spPr>
        <p:txBody>
          <a:bodyPr wrap="square" lIns="0" tIns="0" rIns="0" bIns="0" rtlCol="0" anchor="ctr"/>
          <a:lstStyle/>
          <a:p>
            <a:pPr indent="0" marL="0">
              <a:buNone/>
            </a:pPr>
            <a:r>
              <a:rPr lang="en-US" sz="1000" dirty="0">
                <a:solidFill>
                  <a:srgbClr val="30363D"/>
                </a:solidFill>
                <a:latin typeface="Calibri" pitchFamily="34" charset="0"/>
                <a:ea typeface="Calibri" pitchFamily="34" charset="-122"/>
                <a:cs typeface="Calibri" pitchFamily="34" charset="-120"/>
              </a:rPr>
              <a:t>How are child tickets applied, and by what criteria?</a:t>
            </a:r>
            <a:endParaRPr lang="en-US" sz="1000" dirty="0"/>
          </a:p>
        </p:txBody>
      </p:sp>
      <p:sp>
        <p:nvSpPr>
          <p:cNvPr id="13" name="Shape 11"/>
          <p:cNvSpPr/>
          <p:nvPr/>
        </p:nvSpPr>
        <p:spPr>
          <a:xfrm>
            <a:off x="5989320" y="2423160"/>
            <a:ext cx="365760" cy="274320"/>
          </a:xfrm>
          <a:prstGeom prst="rightArrow">
            <a:avLst/>
          </a:prstGeom>
          <a:solidFill>
            <a:srgbClr val="2A9D8C"/>
          </a:solidFill>
          <a:ln/>
        </p:spPr>
      </p:sp>
      <p:sp>
        <p:nvSpPr>
          <p:cNvPr id="14" name="Shape 12"/>
          <p:cNvSpPr/>
          <p:nvPr/>
        </p:nvSpPr>
        <p:spPr>
          <a:xfrm>
            <a:off x="6446520" y="2231136"/>
            <a:ext cx="5230368" cy="658368"/>
          </a:xfrm>
          <a:prstGeom prst="roundRect">
            <a:avLst>
              <a:gd name="adj" fmla="val 7639"/>
            </a:avLst>
          </a:prstGeom>
          <a:solidFill>
            <a:srgbClr val="FFFFFF"/>
          </a:solidFill>
          <a:ln w="12700">
            <a:solidFill>
              <a:srgbClr val="C9D2DD"/>
            </a:solidFill>
            <a:prstDash val="solid"/>
          </a:ln>
        </p:spPr>
      </p:sp>
      <p:sp>
        <p:nvSpPr>
          <p:cNvPr id="15" name="Text 13"/>
          <p:cNvSpPr/>
          <p:nvPr/>
        </p:nvSpPr>
        <p:spPr>
          <a:xfrm>
            <a:off x="6601968" y="2286000"/>
            <a:ext cx="4937760" cy="548640"/>
          </a:xfrm>
          <a:prstGeom prst="rect">
            <a:avLst/>
          </a:prstGeom>
          <a:noFill/>
          <a:ln/>
        </p:spPr>
        <p:txBody>
          <a:bodyPr wrap="square" lIns="0" tIns="0" rIns="0" bIns="0" rtlCol="0" anchor="ctr"/>
          <a:lstStyle/>
          <a:p>
            <a:pPr indent="0" marL="0">
              <a:buNone/>
            </a:pPr>
            <a:r>
              <a:rPr lang="en-US" sz="1000" dirty="0">
                <a:solidFill>
                  <a:srgbClr val="30363D"/>
                </a:solidFill>
                <a:latin typeface="Calibri" pitchFamily="34" charset="0"/>
                <a:ea typeface="Calibri" pitchFamily="34" charset="-122"/>
                <a:cs typeface="Calibri" pitchFamily="34" charset="-120"/>
              </a:rPr>
              <a:t>Accepted. Objective child criteria defined; the parent and child convention is now the canonical pattern.</a:t>
            </a:r>
            <a:endParaRPr lang="en-US" sz="1000" dirty="0"/>
          </a:p>
        </p:txBody>
      </p:sp>
      <p:sp>
        <p:nvSpPr>
          <p:cNvPr id="16" name="Shape 14"/>
          <p:cNvSpPr/>
          <p:nvPr/>
        </p:nvSpPr>
        <p:spPr>
          <a:xfrm>
            <a:off x="502920" y="2980944"/>
            <a:ext cx="5394960" cy="658368"/>
          </a:xfrm>
          <a:prstGeom prst="roundRect">
            <a:avLst>
              <a:gd name="adj" fmla="val 7639"/>
            </a:avLst>
          </a:prstGeom>
          <a:solidFill>
            <a:srgbClr val="F5F7FA"/>
          </a:solidFill>
          <a:ln w="12700">
            <a:solidFill>
              <a:srgbClr val="C9D2DD"/>
            </a:solidFill>
            <a:prstDash val="solid"/>
          </a:ln>
        </p:spPr>
      </p:sp>
      <p:sp>
        <p:nvSpPr>
          <p:cNvPr id="17" name="Text 15"/>
          <p:cNvSpPr/>
          <p:nvPr/>
        </p:nvSpPr>
        <p:spPr>
          <a:xfrm>
            <a:off x="658368" y="3035808"/>
            <a:ext cx="5120640" cy="548640"/>
          </a:xfrm>
          <a:prstGeom prst="rect">
            <a:avLst/>
          </a:prstGeom>
          <a:noFill/>
          <a:ln/>
        </p:spPr>
        <p:txBody>
          <a:bodyPr wrap="square" lIns="0" tIns="0" rIns="0" bIns="0" rtlCol="0" anchor="ctr"/>
          <a:lstStyle/>
          <a:p>
            <a:pPr indent="0" marL="0">
              <a:buNone/>
            </a:pPr>
            <a:r>
              <a:rPr lang="en-US" sz="1000" dirty="0">
                <a:solidFill>
                  <a:srgbClr val="30363D"/>
                </a:solidFill>
                <a:latin typeface="Calibri" pitchFamily="34" charset="0"/>
                <a:ea typeface="Calibri" pitchFamily="34" charset="-122"/>
                <a:cs typeface="Calibri" pitchFamily="34" charset="-120"/>
              </a:rPr>
              <a:t>Can the gate run automatically in GitHub?</a:t>
            </a:r>
            <a:endParaRPr lang="en-US" sz="1000" dirty="0"/>
          </a:p>
        </p:txBody>
      </p:sp>
      <p:sp>
        <p:nvSpPr>
          <p:cNvPr id="18" name="Shape 16"/>
          <p:cNvSpPr/>
          <p:nvPr/>
        </p:nvSpPr>
        <p:spPr>
          <a:xfrm>
            <a:off x="5989320" y="3172968"/>
            <a:ext cx="365760" cy="274320"/>
          </a:xfrm>
          <a:prstGeom prst="rightArrow">
            <a:avLst/>
          </a:prstGeom>
          <a:solidFill>
            <a:srgbClr val="2A9D8C"/>
          </a:solidFill>
          <a:ln/>
        </p:spPr>
      </p:sp>
      <p:sp>
        <p:nvSpPr>
          <p:cNvPr id="19" name="Shape 17"/>
          <p:cNvSpPr/>
          <p:nvPr/>
        </p:nvSpPr>
        <p:spPr>
          <a:xfrm>
            <a:off x="6446520" y="2980944"/>
            <a:ext cx="5230368" cy="658368"/>
          </a:xfrm>
          <a:prstGeom prst="roundRect">
            <a:avLst>
              <a:gd name="adj" fmla="val 7639"/>
            </a:avLst>
          </a:prstGeom>
          <a:solidFill>
            <a:srgbClr val="FFFFFF"/>
          </a:solidFill>
          <a:ln w="12700">
            <a:solidFill>
              <a:srgbClr val="C9D2DD"/>
            </a:solidFill>
            <a:prstDash val="solid"/>
          </a:ln>
        </p:spPr>
      </p:sp>
      <p:sp>
        <p:nvSpPr>
          <p:cNvPr id="20" name="Text 18"/>
          <p:cNvSpPr/>
          <p:nvPr/>
        </p:nvSpPr>
        <p:spPr>
          <a:xfrm>
            <a:off x="6601968" y="3035808"/>
            <a:ext cx="4937760" cy="548640"/>
          </a:xfrm>
          <a:prstGeom prst="rect">
            <a:avLst/>
          </a:prstGeom>
          <a:noFill/>
          <a:ln/>
        </p:spPr>
        <p:txBody>
          <a:bodyPr wrap="square" lIns="0" tIns="0" rIns="0" bIns="0" rtlCol="0" anchor="ctr"/>
          <a:lstStyle/>
          <a:p>
            <a:pPr indent="0" marL="0">
              <a:buNone/>
            </a:pPr>
            <a:r>
              <a:rPr lang="en-US" sz="1000" dirty="0">
                <a:solidFill>
                  <a:srgbClr val="30363D"/>
                </a:solidFill>
                <a:latin typeface="Calibri" pitchFamily="34" charset="0"/>
                <a:ea typeface="Calibri" pitchFamily="34" charset="-122"/>
                <a:cs typeface="Calibri" pitchFamily="34" charset="-120"/>
              </a:rPr>
              <a:t>Accepted for pilot. A fail-closed Action reconciles the diff against the envelope; report-only first.</a:t>
            </a:r>
            <a:endParaRPr lang="en-US" sz="1000" dirty="0"/>
          </a:p>
        </p:txBody>
      </p:sp>
      <p:sp>
        <p:nvSpPr>
          <p:cNvPr id="21" name="Shape 19"/>
          <p:cNvSpPr/>
          <p:nvPr/>
        </p:nvSpPr>
        <p:spPr>
          <a:xfrm>
            <a:off x="502920" y="3730752"/>
            <a:ext cx="5394960" cy="658368"/>
          </a:xfrm>
          <a:prstGeom prst="roundRect">
            <a:avLst>
              <a:gd name="adj" fmla="val 7639"/>
            </a:avLst>
          </a:prstGeom>
          <a:solidFill>
            <a:srgbClr val="F5F7FA"/>
          </a:solidFill>
          <a:ln w="12700">
            <a:solidFill>
              <a:srgbClr val="C9D2DD"/>
            </a:solidFill>
            <a:prstDash val="solid"/>
          </a:ln>
        </p:spPr>
      </p:sp>
      <p:sp>
        <p:nvSpPr>
          <p:cNvPr id="22" name="Text 20"/>
          <p:cNvSpPr/>
          <p:nvPr/>
        </p:nvSpPr>
        <p:spPr>
          <a:xfrm>
            <a:off x="658368" y="3785616"/>
            <a:ext cx="5120640" cy="548640"/>
          </a:xfrm>
          <a:prstGeom prst="rect">
            <a:avLst/>
          </a:prstGeom>
          <a:noFill/>
          <a:ln/>
        </p:spPr>
        <p:txBody>
          <a:bodyPr wrap="square" lIns="0" tIns="0" rIns="0" bIns="0" rtlCol="0" anchor="ctr"/>
          <a:lstStyle/>
          <a:p>
            <a:pPr indent="0" marL="0">
              <a:buNone/>
            </a:pPr>
            <a:r>
              <a:rPr lang="en-US" sz="1000" dirty="0">
                <a:solidFill>
                  <a:srgbClr val="30363D"/>
                </a:solidFill>
                <a:latin typeface="Calibri" pitchFamily="34" charset="0"/>
                <a:ea typeface="Calibri" pitchFamily="34" charset="-122"/>
                <a:cs typeface="Calibri" pitchFamily="34" charset="-120"/>
              </a:rPr>
              <a:t>What catches work that exceeds its triage scope?</a:t>
            </a:r>
            <a:endParaRPr lang="en-US" sz="1000" dirty="0"/>
          </a:p>
        </p:txBody>
      </p:sp>
      <p:sp>
        <p:nvSpPr>
          <p:cNvPr id="23" name="Shape 21"/>
          <p:cNvSpPr/>
          <p:nvPr/>
        </p:nvSpPr>
        <p:spPr>
          <a:xfrm>
            <a:off x="5989320" y="3922776"/>
            <a:ext cx="365760" cy="274320"/>
          </a:xfrm>
          <a:prstGeom prst="rightArrow">
            <a:avLst/>
          </a:prstGeom>
          <a:solidFill>
            <a:srgbClr val="2A9D8C"/>
          </a:solidFill>
          <a:ln/>
        </p:spPr>
      </p:sp>
      <p:sp>
        <p:nvSpPr>
          <p:cNvPr id="24" name="Shape 22"/>
          <p:cNvSpPr/>
          <p:nvPr/>
        </p:nvSpPr>
        <p:spPr>
          <a:xfrm>
            <a:off x="6446520" y="3730752"/>
            <a:ext cx="5230368" cy="658368"/>
          </a:xfrm>
          <a:prstGeom prst="roundRect">
            <a:avLst>
              <a:gd name="adj" fmla="val 7639"/>
            </a:avLst>
          </a:prstGeom>
          <a:solidFill>
            <a:srgbClr val="FFFFFF"/>
          </a:solidFill>
          <a:ln w="12700">
            <a:solidFill>
              <a:srgbClr val="C9D2DD"/>
            </a:solidFill>
            <a:prstDash val="solid"/>
          </a:ln>
        </p:spPr>
      </p:sp>
      <p:sp>
        <p:nvSpPr>
          <p:cNvPr id="25" name="Text 23"/>
          <p:cNvSpPr/>
          <p:nvPr/>
        </p:nvSpPr>
        <p:spPr>
          <a:xfrm>
            <a:off x="6601968" y="3785616"/>
            <a:ext cx="4937760" cy="548640"/>
          </a:xfrm>
          <a:prstGeom prst="rect">
            <a:avLst/>
          </a:prstGeom>
          <a:noFill/>
          <a:ln/>
        </p:spPr>
        <p:txBody>
          <a:bodyPr wrap="square" lIns="0" tIns="0" rIns="0" bIns="0" rtlCol="0" anchor="ctr"/>
          <a:lstStyle/>
          <a:p>
            <a:pPr indent="0" marL="0">
              <a:buNone/>
            </a:pPr>
            <a:r>
              <a:rPr lang="en-US" sz="1000" dirty="0">
                <a:solidFill>
                  <a:srgbClr val="30363D"/>
                </a:solidFill>
                <a:latin typeface="Calibri" pitchFamily="34" charset="0"/>
                <a:ea typeface="Calibri" pitchFamily="34" charset="-122"/>
                <a:cs typeface="Calibri" pitchFamily="34" charset="-120"/>
              </a:rPr>
              <a:t>Partially accepted. Release reconciliation is mechanical; semantic checking is parked as an AI horizon item.</a:t>
            </a:r>
            <a:endParaRPr lang="en-US" sz="1000" dirty="0"/>
          </a:p>
        </p:txBody>
      </p:sp>
      <p:sp>
        <p:nvSpPr>
          <p:cNvPr id="26" name="Shape 24"/>
          <p:cNvSpPr/>
          <p:nvPr/>
        </p:nvSpPr>
        <p:spPr>
          <a:xfrm>
            <a:off x="502920" y="4480560"/>
            <a:ext cx="5394960" cy="658368"/>
          </a:xfrm>
          <a:prstGeom prst="roundRect">
            <a:avLst>
              <a:gd name="adj" fmla="val 7639"/>
            </a:avLst>
          </a:prstGeom>
          <a:solidFill>
            <a:srgbClr val="F5F7FA"/>
          </a:solidFill>
          <a:ln w="12700">
            <a:solidFill>
              <a:srgbClr val="C9D2DD"/>
            </a:solidFill>
            <a:prstDash val="solid"/>
          </a:ln>
        </p:spPr>
      </p:sp>
      <p:sp>
        <p:nvSpPr>
          <p:cNvPr id="27" name="Text 25"/>
          <p:cNvSpPr/>
          <p:nvPr/>
        </p:nvSpPr>
        <p:spPr>
          <a:xfrm>
            <a:off x="658368" y="4535424"/>
            <a:ext cx="5120640" cy="548640"/>
          </a:xfrm>
          <a:prstGeom prst="rect">
            <a:avLst/>
          </a:prstGeom>
          <a:noFill/>
          <a:ln/>
        </p:spPr>
        <p:txBody>
          <a:bodyPr wrap="square" lIns="0" tIns="0" rIns="0" bIns="0" rtlCol="0" anchor="ctr"/>
          <a:lstStyle/>
          <a:p>
            <a:pPr indent="0" marL="0">
              <a:buNone/>
            </a:pPr>
            <a:r>
              <a:rPr lang="en-US" sz="1000" dirty="0">
                <a:solidFill>
                  <a:srgbClr val="30363D"/>
                </a:solidFill>
                <a:latin typeface="Calibri" pitchFamily="34" charset="0"/>
                <a:ea typeface="Calibri" pitchFamily="34" charset="-122"/>
                <a:cs typeface="Calibri" pitchFamily="34" charset="-120"/>
              </a:rPr>
              <a:t>Engineers create risk without realising it</a:t>
            </a:r>
            <a:endParaRPr lang="en-US" sz="1000" dirty="0"/>
          </a:p>
        </p:txBody>
      </p:sp>
      <p:sp>
        <p:nvSpPr>
          <p:cNvPr id="28" name="Shape 26"/>
          <p:cNvSpPr/>
          <p:nvPr/>
        </p:nvSpPr>
        <p:spPr>
          <a:xfrm>
            <a:off x="5989320" y="4672584"/>
            <a:ext cx="365760" cy="274320"/>
          </a:xfrm>
          <a:prstGeom prst="rightArrow">
            <a:avLst/>
          </a:prstGeom>
          <a:solidFill>
            <a:srgbClr val="2A9D8C"/>
          </a:solidFill>
          <a:ln/>
        </p:spPr>
      </p:sp>
      <p:sp>
        <p:nvSpPr>
          <p:cNvPr id="29" name="Shape 27"/>
          <p:cNvSpPr/>
          <p:nvPr/>
        </p:nvSpPr>
        <p:spPr>
          <a:xfrm>
            <a:off x="6446520" y="4480560"/>
            <a:ext cx="5230368" cy="658368"/>
          </a:xfrm>
          <a:prstGeom prst="roundRect">
            <a:avLst>
              <a:gd name="adj" fmla="val 7639"/>
            </a:avLst>
          </a:prstGeom>
          <a:solidFill>
            <a:srgbClr val="FFFFFF"/>
          </a:solidFill>
          <a:ln w="12700">
            <a:solidFill>
              <a:srgbClr val="C9D2DD"/>
            </a:solidFill>
            <a:prstDash val="solid"/>
          </a:ln>
        </p:spPr>
      </p:sp>
      <p:sp>
        <p:nvSpPr>
          <p:cNvPr id="30" name="Text 28"/>
          <p:cNvSpPr/>
          <p:nvPr/>
        </p:nvSpPr>
        <p:spPr>
          <a:xfrm>
            <a:off x="6601968" y="4535424"/>
            <a:ext cx="4937760" cy="548640"/>
          </a:xfrm>
          <a:prstGeom prst="rect">
            <a:avLst/>
          </a:prstGeom>
          <a:noFill/>
          <a:ln/>
        </p:spPr>
        <p:txBody>
          <a:bodyPr wrap="square" lIns="0" tIns="0" rIns="0" bIns="0" rtlCol="0" anchor="ctr"/>
          <a:lstStyle/>
          <a:p>
            <a:pPr indent="0" marL="0">
              <a:buNone/>
            </a:pPr>
            <a:r>
              <a:rPr lang="en-US" sz="1000" dirty="0">
                <a:solidFill>
                  <a:srgbClr val="30363D"/>
                </a:solidFill>
                <a:latin typeface="Calibri" pitchFamily="34" charset="0"/>
                <a:ea typeface="Calibri" pitchFamily="34" charset="-122"/>
                <a:cs typeface="Calibri" pitchFamily="34" charset="-120"/>
              </a:rPr>
              <a:t>Accepted. Capture keys on what the change touches, not on what the author understands.</a:t>
            </a:r>
            <a:endParaRPr lang="en-US" sz="1000" dirty="0"/>
          </a:p>
        </p:txBody>
      </p:sp>
      <p:sp>
        <p:nvSpPr>
          <p:cNvPr id="31" name="Shape 29"/>
          <p:cNvSpPr/>
          <p:nvPr/>
        </p:nvSpPr>
        <p:spPr>
          <a:xfrm>
            <a:off x="502920" y="5230368"/>
            <a:ext cx="5394960" cy="658368"/>
          </a:xfrm>
          <a:prstGeom prst="roundRect">
            <a:avLst>
              <a:gd name="adj" fmla="val 7639"/>
            </a:avLst>
          </a:prstGeom>
          <a:solidFill>
            <a:srgbClr val="F5F7FA"/>
          </a:solidFill>
          <a:ln w="12700">
            <a:solidFill>
              <a:srgbClr val="C9D2DD"/>
            </a:solidFill>
            <a:prstDash val="solid"/>
          </a:ln>
        </p:spPr>
      </p:sp>
      <p:sp>
        <p:nvSpPr>
          <p:cNvPr id="32" name="Text 30"/>
          <p:cNvSpPr/>
          <p:nvPr/>
        </p:nvSpPr>
        <p:spPr>
          <a:xfrm>
            <a:off x="658368" y="5285232"/>
            <a:ext cx="5120640" cy="548640"/>
          </a:xfrm>
          <a:prstGeom prst="rect">
            <a:avLst/>
          </a:prstGeom>
          <a:noFill/>
          <a:ln/>
        </p:spPr>
        <p:txBody>
          <a:bodyPr wrap="square" lIns="0" tIns="0" rIns="0" bIns="0" rtlCol="0" anchor="ctr"/>
          <a:lstStyle/>
          <a:p>
            <a:pPr indent="0" marL="0">
              <a:buNone/>
            </a:pPr>
            <a:r>
              <a:rPr lang="en-US" sz="1000" dirty="0">
                <a:solidFill>
                  <a:srgbClr val="30363D"/>
                </a:solidFill>
                <a:latin typeface="Calibri" pitchFamily="34" charset="0"/>
                <a:ea typeface="Calibri" pitchFamily="34" charset="-122"/>
                <a:cs typeface="Calibri" pitchFamily="34" charset="-120"/>
              </a:rPr>
              <a:t>DefSec capacity for guardrails is not committed</a:t>
            </a:r>
            <a:endParaRPr lang="en-US" sz="1000" dirty="0"/>
          </a:p>
        </p:txBody>
      </p:sp>
      <p:sp>
        <p:nvSpPr>
          <p:cNvPr id="33" name="Shape 31"/>
          <p:cNvSpPr/>
          <p:nvPr/>
        </p:nvSpPr>
        <p:spPr>
          <a:xfrm>
            <a:off x="5989320" y="5422392"/>
            <a:ext cx="365760" cy="274320"/>
          </a:xfrm>
          <a:prstGeom prst="rightArrow">
            <a:avLst/>
          </a:prstGeom>
          <a:solidFill>
            <a:srgbClr val="2A9D8C"/>
          </a:solidFill>
          <a:ln/>
        </p:spPr>
      </p:sp>
      <p:sp>
        <p:nvSpPr>
          <p:cNvPr id="34" name="Shape 32"/>
          <p:cNvSpPr/>
          <p:nvPr/>
        </p:nvSpPr>
        <p:spPr>
          <a:xfrm>
            <a:off x="6446520" y="5230368"/>
            <a:ext cx="5230368" cy="658368"/>
          </a:xfrm>
          <a:prstGeom prst="roundRect">
            <a:avLst>
              <a:gd name="adj" fmla="val 7639"/>
            </a:avLst>
          </a:prstGeom>
          <a:solidFill>
            <a:srgbClr val="FFFFFF"/>
          </a:solidFill>
          <a:ln w="12700">
            <a:solidFill>
              <a:srgbClr val="C9D2DD"/>
            </a:solidFill>
            <a:prstDash val="solid"/>
          </a:ln>
        </p:spPr>
      </p:sp>
      <p:sp>
        <p:nvSpPr>
          <p:cNvPr id="35" name="Text 33"/>
          <p:cNvSpPr/>
          <p:nvPr/>
        </p:nvSpPr>
        <p:spPr>
          <a:xfrm>
            <a:off x="6601968" y="5285232"/>
            <a:ext cx="4937760" cy="548640"/>
          </a:xfrm>
          <a:prstGeom prst="rect">
            <a:avLst/>
          </a:prstGeom>
          <a:noFill/>
          <a:ln/>
        </p:spPr>
        <p:txBody>
          <a:bodyPr wrap="square" lIns="0" tIns="0" rIns="0" bIns="0" rtlCol="0" anchor="ctr"/>
          <a:lstStyle/>
          <a:p>
            <a:pPr indent="0" marL="0">
              <a:buNone/>
            </a:pPr>
            <a:r>
              <a:rPr lang="en-US" sz="1000" dirty="0">
                <a:solidFill>
                  <a:srgbClr val="30363D"/>
                </a:solidFill>
                <a:latin typeface="Calibri" pitchFamily="34" charset="0"/>
                <a:ea typeface="Calibri" pitchFamily="34" charset="-122"/>
                <a:cs typeface="Calibri" pitchFamily="34" charset="-120"/>
              </a:rPr>
              <a:t>Accepted. Guardrails removed from the model; they return as appetite and capacity allow.</a:t>
            </a:r>
            <a:endParaRPr lang="en-US" sz="1000" dirty="0"/>
          </a:p>
        </p:txBody>
      </p:sp>
      <p:sp>
        <p:nvSpPr>
          <p:cNvPr id="36" name="Text 34"/>
          <p:cNvSpPr/>
          <p:nvPr/>
        </p:nvSpPr>
        <p:spPr>
          <a:xfrm>
            <a:off x="502920" y="6172200"/>
            <a:ext cx="11155680" cy="27432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The disposition log records each item, its rating, the decision and where it landed in the document.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92608"/>
            <a:ext cx="10607040" cy="566928"/>
          </a:xfrm>
          <a:prstGeom prst="rect">
            <a:avLst/>
          </a:prstGeom>
          <a:noFill/>
          <a:ln/>
        </p:spPr>
        <p:txBody>
          <a:bodyPr wrap="square" lIns="0" tIns="0" rIns="0" bIns="0" rtlCol="0" anchor="ctr"/>
          <a:lstStyle/>
          <a:p>
            <a:pPr indent="0" marL="0">
              <a:buNone/>
            </a:pPr>
            <a:r>
              <a:rPr lang="en-US" sz="2600" b="1" dirty="0">
                <a:solidFill>
                  <a:srgbClr val="1F3A5F"/>
                </a:solidFill>
                <a:latin typeface="Calibri" pitchFamily="34" charset="0"/>
                <a:ea typeface="Calibri" pitchFamily="34" charset="-122"/>
                <a:cs typeface="Calibri" pitchFamily="34" charset="-120"/>
              </a:rPr>
              <a:t>Where that leaves us</a:t>
            </a:r>
            <a:endParaRPr lang="en-US" sz="2600" dirty="0"/>
          </a:p>
        </p:txBody>
      </p:sp>
      <p:sp>
        <p:nvSpPr>
          <p:cNvPr id="3" name="Text 1"/>
          <p:cNvSpPr/>
          <p:nvPr/>
        </p:nvSpPr>
        <p:spPr>
          <a:xfrm>
            <a:off x="521208" y="859536"/>
            <a:ext cx="10607040" cy="274320"/>
          </a:xfrm>
          <a:prstGeom prst="rect">
            <a:avLst/>
          </a:prstGeom>
          <a:noFill/>
          <a:ln/>
        </p:spPr>
        <p:txBody>
          <a:bodyPr wrap="square" lIns="0" tIns="0" rIns="0" bIns="0" rtlCol="0" anchor="ctr"/>
          <a:lstStyle/>
          <a:p>
            <a:pPr indent="0" marL="0">
              <a:buNone/>
            </a:pPr>
            <a:r>
              <a:rPr lang="en-US" sz="1050" b="1" spc="300" kern="0" dirty="0">
                <a:solidFill>
                  <a:srgbClr val="2A9D8C"/>
                </a:solidFill>
                <a:latin typeface="Calibri" pitchFamily="34" charset="0"/>
                <a:ea typeface="Calibri" pitchFamily="34" charset="-122"/>
                <a:cs typeface="Calibri" pitchFamily="34" charset="-120"/>
              </a:rPr>
              <a:t>LEANER THAN THE FIRST DRAFT, AND STRONGER FOR IT</a:t>
            </a:r>
            <a:endParaRPr lang="en-US" sz="1050" dirty="0"/>
          </a:p>
        </p:txBody>
      </p:sp>
      <p:sp>
        <p:nvSpPr>
          <p:cNvPr id="4" name="Text 2"/>
          <p:cNvSpPr/>
          <p:nvPr/>
        </p:nvSpPr>
        <p:spPr>
          <a:xfrm>
            <a:off x="502920" y="6473952"/>
            <a:ext cx="8686800" cy="274320"/>
          </a:xfrm>
          <a:prstGeom prst="rect">
            <a:avLst/>
          </a:prstGeom>
          <a:noFill/>
          <a:ln/>
        </p:spPr>
        <p:txBody>
          <a:bodyPr wrap="square" lIns="0" tIns="0" rIns="0" bIns="0" rtlCol="0" anchor="ctr"/>
          <a:lstStyle/>
          <a:p>
            <a:pPr indent="0" marL="0">
              <a:buNone/>
            </a:pPr>
            <a:r>
              <a:rPr lang="en-US" sz="850" dirty="0">
                <a:solidFill>
                  <a:srgbClr val="6E7B8A"/>
                </a:solidFill>
                <a:latin typeface="Calibri" pitchFamily="34" charset="0"/>
                <a:ea typeface="Calibri" pitchFamily="34" charset="-122"/>
                <a:cs typeface="Calibri" pitchFamily="34" charset="-120"/>
              </a:rPr>
              <a:t>PAVE  ·  Security Engagement Operating Model  ·  How the model evolved</a:t>
            </a:r>
            <a:endParaRPr lang="en-US" sz="850" dirty="0"/>
          </a:p>
        </p:txBody>
      </p:sp>
      <p:sp>
        <p:nvSpPr>
          <p:cNvPr id="5" name="Text 3"/>
          <p:cNvSpPr/>
          <p:nvPr/>
        </p:nvSpPr>
        <p:spPr>
          <a:xfrm>
            <a:off x="11475720" y="6473952"/>
            <a:ext cx="457200" cy="274320"/>
          </a:xfrm>
          <a:prstGeom prst="rect">
            <a:avLst/>
          </a:prstGeom>
          <a:noFill/>
          <a:ln/>
        </p:spPr>
        <p:txBody>
          <a:bodyPr wrap="square" lIns="0" tIns="0" rIns="0" bIns="0" rtlCol="0" anchor="ctr"/>
          <a:lstStyle/>
          <a:p>
            <a:pPr algn="r" indent="0" marL="0">
              <a:buNone/>
            </a:pPr>
            <a:r>
              <a:rPr lang="en-US" sz="850" dirty="0">
                <a:solidFill>
                  <a:srgbClr val="6E7B8A"/>
                </a:solidFill>
                <a:latin typeface="Calibri" pitchFamily="34" charset="0"/>
                <a:ea typeface="Calibri" pitchFamily="34" charset="-122"/>
                <a:cs typeface="Calibri" pitchFamily="34" charset="-120"/>
              </a:rPr>
              <a:t>12</a:t>
            </a:r>
            <a:endParaRPr lang="en-US" sz="850" dirty="0"/>
          </a:p>
        </p:txBody>
      </p:sp>
      <p:sp>
        <p:nvSpPr>
          <p:cNvPr id="6" name="Shape 4"/>
          <p:cNvSpPr/>
          <p:nvPr/>
        </p:nvSpPr>
        <p:spPr>
          <a:xfrm>
            <a:off x="502920" y="1554480"/>
            <a:ext cx="6949440" cy="4206240"/>
          </a:xfrm>
          <a:prstGeom prst="roundRect">
            <a:avLst>
              <a:gd name="adj" fmla="val 1196"/>
            </a:avLst>
          </a:prstGeom>
          <a:solidFill>
            <a:srgbClr val="FFFFFF"/>
          </a:solidFill>
          <a:ln w="12700">
            <a:solidFill>
              <a:srgbClr val="C9D2DD"/>
            </a:solidFill>
            <a:prstDash val="solid"/>
          </a:ln>
        </p:spPr>
      </p:sp>
      <p:sp>
        <p:nvSpPr>
          <p:cNvPr id="7" name="Shape 5"/>
          <p:cNvSpPr/>
          <p:nvPr/>
        </p:nvSpPr>
        <p:spPr>
          <a:xfrm>
            <a:off x="502920" y="1554480"/>
            <a:ext cx="64008" cy="4206240"/>
          </a:xfrm>
          <a:prstGeom prst="rect">
            <a:avLst/>
          </a:prstGeom>
          <a:solidFill>
            <a:srgbClr val="1F3A5F"/>
          </a:solidFill>
          <a:ln/>
        </p:spPr>
      </p:sp>
      <p:sp>
        <p:nvSpPr>
          <p:cNvPr id="8" name="Text 6"/>
          <p:cNvSpPr/>
          <p:nvPr/>
        </p:nvSpPr>
        <p:spPr>
          <a:xfrm>
            <a:off x="777240" y="1737360"/>
            <a:ext cx="6400800" cy="36576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The current model in one breath</a:t>
            </a:r>
            <a:endParaRPr lang="en-US" sz="1400" dirty="0"/>
          </a:p>
        </p:txBody>
      </p:sp>
      <p:sp>
        <p:nvSpPr>
          <p:cNvPr id="9" name="Text 7"/>
          <p:cNvSpPr/>
          <p:nvPr/>
        </p:nvSpPr>
        <p:spPr>
          <a:xfrm>
            <a:off x="777240" y="2194560"/>
            <a:ext cx="6400800" cy="2103120"/>
          </a:xfrm>
          <a:prstGeom prst="rect">
            <a:avLst/>
          </a:prstGeom>
          <a:noFill/>
          <a:ln/>
        </p:spPr>
        <p:txBody>
          <a:bodyPr wrap="square" lIns="0" tIns="0" rIns="0" bIns="0" rtlCol="0" anchor="t"/>
          <a:lstStyle/>
          <a:p>
            <a:pPr indent="0" marL="0">
              <a:buNone/>
            </a:pPr>
            <a:r>
              <a:rPr lang="en-US" sz="1200" b="1" dirty="0">
                <a:solidFill>
                  <a:srgbClr val="30363D"/>
                </a:solidFill>
                <a:latin typeface="Calibri" pitchFamily="34" charset="0"/>
                <a:ea typeface="Calibri" pitchFamily="34" charset="-122"/>
                <a:cs typeface="Calibri" pitchFamily="34" charset="-120"/>
              </a:rPr>
              <a:t>Two pillars: boundaries and assurance. </a:t>
            </a:r>
            <a:pPr indent="0" marL="0">
              <a:buNone/>
            </a:pPr>
            <a:r>
              <a:rPr lang="en-US" sz="1200" dirty="0">
                <a:solidFill>
                  <a:srgbClr val="30363D"/>
                </a:solidFill>
                <a:latin typeface="Calibri" pitchFamily="34" charset="0"/>
                <a:ea typeface="Calibri" pitchFamily="34" charset="-122"/>
                <a:cs typeface="Calibri" pitchFamily="34" charset="-120"/>
              </a:rPr>
              <a:t>Standards in support, defining good and explaining why. One self-service triage as the front door, cascading for initiatives and versioned for change. Currency computed by a fail-closed gate, breaches caught by detection and routed by type, assurance sampling the whole arrangement. Named owners accepting scored risk against a stated appetite, under three lines of defence.</a:t>
            </a:r>
            <a:endParaRPr lang="en-US" sz="1200" dirty="0"/>
          </a:p>
        </p:txBody>
      </p:sp>
      <p:sp>
        <p:nvSpPr>
          <p:cNvPr id="10" name="Text 8"/>
          <p:cNvSpPr/>
          <p:nvPr/>
        </p:nvSpPr>
        <p:spPr>
          <a:xfrm>
            <a:off x="777240" y="4709160"/>
            <a:ext cx="6400800" cy="914400"/>
          </a:xfrm>
          <a:prstGeom prst="rect">
            <a:avLst/>
          </a:prstGeom>
          <a:noFill/>
          <a:ln/>
        </p:spPr>
        <p:txBody>
          <a:bodyPr wrap="square" lIns="0" tIns="0" rIns="0" bIns="0" rtlCol="0" anchor="t"/>
          <a:lstStyle/>
          <a:p>
            <a:pPr indent="0" marL="0">
              <a:buNone/>
            </a:pPr>
            <a:r>
              <a:rPr lang="en-US" sz="1100" i="1" dirty="0">
                <a:solidFill>
                  <a:srgbClr val="6E7B8A"/>
                </a:solidFill>
                <a:latin typeface="Calibri" pitchFamily="34" charset="0"/>
                <a:ea typeface="Calibri" pitchFamily="34" charset="-122"/>
                <a:cs typeface="Calibri" pitchFamily="34" charset="-120"/>
              </a:rPr>
              <a:t>Simpler than the first draft: no champions, no maturity ladder, no road catalogue, no guardrail build on the critical path.</a:t>
            </a:r>
            <a:endParaRPr lang="en-US" sz="1100" dirty="0"/>
          </a:p>
        </p:txBody>
      </p:sp>
      <p:sp>
        <p:nvSpPr>
          <p:cNvPr id="11" name="Shape 9"/>
          <p:cNvSpPr/>
          <p:nvPr/>
        </p:nvSpPr>
        <p:spPr>
          <a:xfrm>
            <a:off x="7772400" y="1554480"/>
            <a:ext cx="3913632" cy="4206240"/>
          </a:xfrm>
          <a:prstGeom prst="roundRect">
            <a:avLst>
              <a:gd name="adj" fmla="val 1285"/>
            </a:avLst>
          </a:prstGeom>
          <a:solidFill>
            <a:srgbClr val="F5F7FA"/>
          </a:solidFill>
          <a:ln w="12700">
            <a:solidFill>
              <a:srgbClr val="C9D2DD"/>
            </a:solidFill>
            <a:prstDash val="solid"/>
          </a:ln>
        </p:spPr>
      </p:sp>
      <p:sp>
        <p:nvSpPr>
          <p:cNvPr id="12" name="Text 10"/>
          <p:cNvSpPr/>
          <p:nvPr/>
        </p:nvSpPr>
        <p:spPr>
          <a:xfrm>
            <a:off x="7973568" y="1737360"/>
            <a:ext cx="3566160" cy="365760"/>
          </a:xfrm>
          <a:prstGeom prst="rect">
            <a:avLst/>
          </a:prstGeom>
          <a:noFill/>
          <a:ln/>
        </p:spPr>
        <p:txBody>
          <a:bodyPr wrap="square" lIns="0" tIns="0" rIns="0" bIns="0" rtlCol="0" anchor="ctr"/>
          <a:lstStyle/>
          <a:p>
            <a:pPr indent="0" marL="0">
              <a:buNone/>
            </a:pPr>
            <a:r>
              <a:rPr lang="en-US" sz="1400" b="1" dirty="0">
                <a:solidFill>
                  <a:srgbClr val="9A6A1E"/>
                </a:solidFill>
                <a:latin typeface="Calibri" pitchFamily="34" charset="0"/>
                <a:ea typeface="Calibri" pitchFamily="34" charset="-122"/>
                <a:cs typeface="Calibri" pitchFamily="34" charset="-120"/>
              </a:rPr>
              <a:t>Returning later</a:t>
            </a:r>
            <a:endParaRPr lang="en-US" sz="1400" dirty="0"/>
          </a:p>
        </p:txBody>
      </p:sp>
      <p:sp>
        <p:nvSpPr>
          <p:cNvPr id="13" name="Text 11"/>
          <p:cNvSpPr/>
          <p:nvPr/>
        </p:nvSpPr>
        <p:spPr>
          <a:xfrm>
            <a:off x="7973568" y="2194560"/>
            <a:ext cx="3529584" cy="3383280"/>
          </a:xfrm>
          <a:prstGeom prst="rect">
            <a:avLst/>
          </a:prstGeom>
          <a:noFill/>
          <a:ln/>
        </p:spPr>
        <p:txBody>
          <a:bodyPr wrap="square" lIns="0" tIns="0" rIns="0" bIns="0" rtlCol="0" anchor="t"/>
          <a:lstStyle/>
          <a:p>
            <a:pPr indent="0" marL="0">
              <a:buNone/>
            </a:pPr>
            <a:r>
              <a:rPr lang="en-US" sz="1150" b="1" dirty="0">
                <a:solidFill>
                  <a:srgbClr val="30363D"/>
                </a:solidFill>
                <a:latin typeface="Calibri" pitchFamily="34" charset="0"/>
                <a:ea typeface="Calibri" pitchFamily="34" charset="-122"/>
                <a:cs typeface="Calibri" pitchFamily="34" charset="-120"/>
              </a:rPr>
              <a:t>Enforceable guardrails</a:t>
            </a:r>
            <a:endParaRPr lang="en-US" sz="1150" dirty="0"/>
          </a:p>
          <a:p>
            <a:pPr indent="0" marL="0">
              <a:spcAft>
                <a:spcPts val="800"/>
              </a:spcAft>
              <a:buNone/>
            </a:pPr>
            <a:r>
              <a:rPr lang="en-US" sz="1150" dirty="0">
                <a:solidFill>
                  <a:srgbClr val="30363D"/>
                </a:solidFill>
                <a:latin typeface="Calibri" pitchFamily="34" charset="0"/>
                <a:ea typeface="Calibri" pitchFamily="34" charset="-122"/>
                <a:cs typeface="Calibri" pitchFamily="34" charset="-120"/>
              </a:rPr>
              <a:t>as appetite and capacity allow, layered onto the standards.</a:t>
            </a:r>
            <a:endParaRPr lang="en-US" sz="1150" dirty="0"/>
          </a:p>
          <a:p>
            <a:pPr indent="0" marL="0">
              <a:buNone/>
            </a:pPr>
            <a:r>
              <a:rPr lang="en-US" sz="1150" b="1" dirty="0">
                <a:solidFill>
                  <a:srgbClr val="30363D"/>
                </a:solidFill>
                <a:latin typeface="Calibri" pitchFamily="34" charset="0"/>
                <a:ea typeface="Calibri" pitchFamily="34" charset="-122"/>
                <a:cs typeface="Calibri" pitchFamily="34" charset="-120"/>
              </a:rPr>
              <a:t>Risk-model coupling</a:t>
            </a:r>
            <a:endParaRPr lang="en-US" sz="1150" dirty="0"/>
          </a:p>
          <a:p>
            <a:pPr indent="0" marL="0">
              <a:spcAft>
                <a:spcPts val="800"/>
              </a:spcAft>
              <a:buNone/>
            </a:pPr>
            <a:r>
              <a:rPr lang="en-US" sz="1150" dirty="0">
                <a:solidFill>
                  <a:srgbClr val="30363D"/>
                </a:solidFill>
                <a:latin typeface="Calibri" pitchFamily="34" charset="0"/>
                <a:ea typeface="Calibri" pitchFamily="34" charset="-122"/>
                <a:cs typeface="Calibri" pitchFamily="34" charset="-120"/>
              </a:rPr>
              <a:t>tightened once the in-flight risk model and ISRM board land.</a:t>
            </a:r>
            <a:endParaRPr lang="en-US" sz="1150" dirty="0"/>
          </a:p>
          <a:p>
            <a:pPr indent="0" marL="0">
              <a:buNone/>
            </a:pPr>
            <a:r>
              <a:rPr lang="en-US" sz="1150" b="1" dirty="0">
                <a:solidFill>
                  <a:srgbClr val="30363D"/>
                </a:solidFill>
                <a:latin typeface="Calibri" pitchFamily="34" charset="0"/>
                <a:ea typeface="Calibri" pitchFamily="34" charset="-122"/>
                <a:cs typeface="Calibri" pitchFamily="34" charset="-120"/>
              </a:rPr>
              <a:t>Thresholds to ratify</a:t>
            </a:r>
            <a:endParaRPr lang="en-US" sz="1150" dirty="0"/>
          </a:p>
          <a:p>
            <a:pPr indent="0" marL="0">
              <a:buNone/>
            </a:pPr>
            <a:r>
              <a:rPr lang="en-US" sz="1150" dirty="0">
                <a:solidFill>
                  <a:srgbClr val="30363D"/>
                </a:solidFill>
                <a:latin typeface="Calibri" pitchFamily="34" charset="0"/>
                <a:ea typeface="Calibri" pitchFamily="34" charset="-122"/>
                <a:cs typeface="Calibri" pitchFamily="34" charset="-120"/>
              </a:rPr>
              <a:t>risk appetite positions and the PII-at-scale line, with the executive.</a:t>
            </a:r>
            <a:endParaRPr lang="en-US" sz="1150" dirty="0"/>
          </a:p>
        </p:txBody>
      </p:sp>
      <p:sp>
        <p:nvSpPr>
          <p:cNvPr id="14" name="Text 12"/>
          <p:cNvSpPr/>
          <p:nvPr/>
        </p:nvSpPr>
        <p:spPr>
          <a:xfrm>
            <a:off x="502920" y="6035040"/>
            <a:ext cx="11155680" cy="320040"/>
          </a:xfrm>
          <a:prstGeom prst="rect">
            <a:avLst/>
          </a:prstGeom>
          <a:noFill/>
          <a:ln/>
        </p:spPr>
        <p:txBody>
          <a:bodyPr wrap="square" lIns="0" tIns="0" rIns="0" bIns="0" rtlCol="0" anchor="ctr"/>
          <a:lstStyle/>
          <a:p>
            <a:pPr indent="0" marL="0">
              <a:buNone/>
            </a:pPr>
            <a:r>
              <a:rPr lang="en-US" sz="1050" i="1" dirty="0">
                <a:solidFill>
                  <a:srgbClr val="6E7B8A"/>
                </a:solidFill>
                <a:latin typeface="Calibri" pitchFamily="34" charset="0"/>
                <a:ea typeface="Calibri" pitchFamily="34" charset="-122"/>
                <a:cs typeface="Calibri" pitchFamily="34" charset="-120"/>
              </a:rPr>
              <a:t>The asks from the main deck are unchanged: pressure-test the tiers, the triage and the ownership shift.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2026-07-30T09:25:10Z</dcterms:created>
  <dcterms:modified xsi:type="dcterms:W3CDTF">2026-07-30T09:25:10Z</dcterms:modified>
</cp:coreProperties>
</file>